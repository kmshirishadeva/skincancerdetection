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Roboto Mon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1" roundtripDataSignature="AMtx7mhDb6efheK52RI/Ba6KnXvVKK46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83C9A2C-D441-46AD-BFED-E8A31284C779}">
  <a:tblStyle styleId="{483C9A2C-D441-46AD-BFED-E8A31284C77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obotoMono-bold.fntdata"/><Relationship Id="rId27" Type="http://schemas.openxmlformats.org/officeDocument/2006/relationships/font" Target="fonts/RobotoMon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Mono-italic.fntdata"/><Relationship Id="rId7" Type="http://schemas.openxmlformats.org/officeDocument/2006/relationships/slide" Target="slides/slide1.xml"/><Relationship Id="rId8" Type="http://schemas.openxmlformats.org/officeDocument/2006/relationships/slide" Target="slides/slide2.xml"/><Relationship Id="rId31" Type="http://customschemas.google.com/relationships/presentationmetadata" Target="metadata"/><Relationship Id="rId30" Type="http://schemas.openxmlformats.org/officeDocument/2006/relationships/font" Target="fonts/RobotoMon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9e8ef4afe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g39e8ef4afed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a8eaf682b5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g3a8eaf682b5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a8eaf682b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g3a8eaf682b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8eaf682b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g3a8eaf682b5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8eaf682b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g3a8eaf682b5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8eaf682b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g3a8eaf682b5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9e8ef4afed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g39e8ef4afed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9e8ef4afe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39e8ef4afed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e8ef4afe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g39e8ef4afed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9e8ef4afed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39e8ef4afed_0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9e8ef4afe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39e8ef4afed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a0d286995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3a0d2869956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9e8ef4afe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39e8ef4afed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e8ef4afed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39e8ef4afed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1157100" y="701775"/>
            <a:ext cx="6829800" cy="664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b="1" lang="en" sz="2600"/>
              <a:t>Attention-Driven Deep Feature Boosting for Skin Cancer Classification </a:t>
            </a:r>
            <a:endParaRPr b="1" sz="2600"/>
          </a:p>
        </p:txBody>
      </p:sp>
      <p:sp>
        <p:nvSpPr>
          <p:cNvPr id="55" name="Google Shape;55;p1"/>
          <p:cNvSpPr txBox="1"/>
          <p:nvPr/>
        </p:nvSpPr>
        <p:spPr>
          <a:xfrm>
            <a:off x="5875475" y="2841925"/>
            <a:ext cx="30000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BATCH - 11</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22071A6693 – K.M. Shirisha Deva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22071A66B6 – P. Himesh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22071A66C2 – S. Lasya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22071A66C5 – V. Srivardhan</a:t>
            </a:r>
            <a:endParaRPr b="0" i="0" sz="1400" u="none" cap="none" strike="noStrike">
              <a:solidFill>
                <a:srgbClr val="000000"/>
              </a:solidFill>
              <a:latin typeface="Arial"/>
              <a:ea typeface="Arial"/>
              <a:cs typeface="Arial"/>
              <a:sym typeface="Arial"/>
            </a:endParaRPr>
          </a:p>
        </p:txBody>
      </p:sp>
      <p:sp>
        <p:nvSpPr>
          <p:cNvPr id="56" name="Google Shape;56;p1"/>
          <p:cNvSpPr txBox="1"/>
          <p:nvPr/>
        </p:nvSpPr>
        <p:spPr>
          <a:xfrm>
            <a:off x="1006025" y="3700275"/>
            <a:ext cx="23898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Dr. K Archana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Assistant Professor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Dept of CSE AIML &amp; IOT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VNR VJIET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g39e8ef4afed_0_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ABSTRACT</a:t>
            </a:r>
            <a:endParaRPr b="1"/>
          </a:p>
        </p:txBody>
      </p:sp>
      <p:sp>
        <p:nvSpPr>
          <p:cNvPr id="62" name="Google Shape;62;g39e8ef4afed_0_5"/>
          <p:cNvSpPr txBox="1"/>
          <p:nvPr>
            <p:ph idx="1" type="body"/>
          </p:nvPr>
        </p:nvSpPr>
        <p:spPr>
          <a:xfrm>
            <a:off x="311700" y="1131075"/>
            <a:ext cx="8520600" cy="28905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800"/>
              <a:buNone/>
            </a:pPr>
            <a:r>
              <a:rPr lang="en" sz="1400">
                <a:solidFill>
                  <a:schemeClr val="dk1"/>
                </a:solidFill>
              </a:rPr>
              <a:t>Skin cancer remains a major global health challenge, where early detection significantly improves survival rates but manual diagnosis is subjective and error-prone. Traditional machine learning approaches, though accurate in controlled settings, rely on handcrafted features and fail to generalize across diverse dermoscopic datasets. Recent advances in deep learning particularly CNNs enhanced with attention mechanisms have achieved state-of-the-art accuracy by focusing on critical lesion regions and multi-scale features. Lightweight attention-driven models (e.g., Attention-Driven CNNs, EfficientNet) enable efficient deployment on resource-limited devices while retaining high diagnostic accuracy.</a:t>
            </a:r>
            <a:endParaRPr sz="1400">
              <a:solidFill>
                <a:schemeClr val="dk1"/>
              </a:solidFill>
            </a:endParaRPr>
          </a:p>
          <a:p>
            <a:pPr indent="0" lvl="0" marL="0" rtl="0" algn="just">
              <a:lnSpc>
                <a:spcPct val="115000"/>
              </a:lnSpc>
              <a:spcBef>
                <a:spcPts val="0"/>
              </a:spcBef>
              <a:spcAft>
                <a:spcPts val="0"/>
              </a:spcAft>
              <a:buSzPts val="1800"/>
              <a:buNone/>
            </a:pPr>
            <a:r>
              <a:rPr lang="en" sz="1400">
                <a:solidFill>
                  <a:schemeClr val="dk1"/>
                </a:solidFill>
              </a:rPr>
              <a:t>In this work, we integrate attention-based CNNs with Gradient Boosting classifiers, achieving 90.9% accuracy and 0.968 AUC using an EfficientNet-B3 + SE Attention + XGBoost framework, offering an optimal balance between efficiency, interpretability, and diagnostic performance.</a:t>
            </a:r>
            <a:endParaRPr sz="14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g3a8eaf682b5_0_6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INTRODUCTION</a:t>
            </a:r>
            <a:endParaRPr b="1"/>
          </a:p>
        </p:txBody>
      </p:sp>
      <p:sp>
        <p:nvSpPr>
          <p:cNvPr id="68" name="Google Shape;68;g3a8eaf682b5_0_6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95000"/>
              </a:lnSpc>
              <a:spcBef>
                <a:spcPts val="0"/>
              </a:spcBef>
              <a:spcAft>
                <a:spcPts val="1200"/>
              </a:spcAft>
              <a:buSzPts val="1800"/>
              <a:buNone/>
            </a:pPr>
            <a:r>
              <a:rPr lang="en" sz="1700">
                <a:solidFill>
                  <a:schemeClr val="dk1"/>
                </a:solidFill>
              </a:rPr>
              <a:t>Skin cancer is one of the most common cancers worldwide, and early detection is crucial for improving survival rates. Manual diagnosis using dermoscopy is time-consuming, subjective, and prone to inter-observer variability, which creates a strong need for automated, reliable diagnostic systems. While traditional machine learning approaches provided some success, they were limited by reliance on handcrafted features and lack of scalability. Advances in deep learning, particularly convolutional neural networks (CNNs), have significantly improved performance through automated feature extraction. More recently, attention mechanisms and hybrid architectures have shown further improvements in accuracy, efficiency, and interpretability. However, challenges remain in developing models that are both robust and lightweight, while maintaining clinical reliability.</a:t>
            </a:r>
            <a:endParaRPr sz="17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g3a8eaf682b5_0_0"/>
          <p:cNvSpPr txBox="1"/>
          <p:nvPr>
            <p:ph type="title"/>
          </p:nvPr>
        </p:nvSpPr>
        <p:spPr>
          <a:xfrm>
            <a:off x="311700" y="1400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LITERATURE REVIEW</a:t>
            </a:r>
            <a:endParaRPr b="1"/>
          </a:p>
        </p:txBody>
      </p:sp>
      <p:pic>
        <p:nvPicPr>
          <p:cNvPr id="74" name="Google Shape;74;g3a8eaf682b5_0_0"/>
          <p:cNvPicPr preferRelativeResize="0"/>
          <p:nvPr/>
        </p:nvPicPr>
        <p:blipFill rotWithShape="1">
          <a:blip r:embed="rId3">
            <a:alphaModFix/>
          </a:blip>
          <a:srcRect b="0" l="0" r="0" t="0"/>
          <a:stretch/>
        </p:blipFill>
        <p:spPr>
          <a:xfrm>
            <a:off x="152400" y="1094113"/>
            <a:ext cx="8839197" cy="29552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id="79" name="Google Shape;79;g3a8eaf682b5_0_5"/>
          <p:cNvPicPr preferRelativeResize="0"/>
          <p:nvPr/>
        </p:nvPicPr>
        <p:blipFill rotWithShape="1">
          <a:blip r:embed="rId3">
            <a:alphaModFix/>
          </a:blip>
          <a:srcRect b="0" l="0" r="0" t="0"/>
          <a:stretch/>
        </p:blipFill>
        <p:spPr>
          <a:xfrm>
            <a:off x="389388" y="1127026"/>
            <a:ext cx="8365222" cy="28894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g3a8eaf682b5_0_9"/>
          <p:cNvPicPr preferRelativeResize="0"/>
          <p:nvPr/>
        </p:nvPicPr>
        <p:blipFill rotWithShape="1">
          <a:blip r:embed="rId3">
            <a:alphaModFix/>
          </a:blip>
          <a:srcRect b="0" l="0" r="0" t="0"/>
          <a:stretch/>
        </p:blipFill>
        <p:spPr>
          <a:xfrm>
            <a:off x="152400" y="959050"/>
            <a:ext cx="8839200" cy="322540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g3a8eaf682b5_0_13"/>
          <p:cNvPicPr preferRelativeResize="0"/>
          <p:nvPr/>
        </p:nvPicPr>
        <p:blipFill rotWithShape="1">
          <a:blip r:embed="rId3">
            <a:alphaModFix/>
          </a:blip>
          <a:srcRect b="0" l="0" r="0" t="0"/>
          <a:stretch/>
        </p:blipFill>
        <p:spPr>
          <a:xfrm>
            <a:off x="152400" y="862050"/>
            <a:ext cx="8839200" cy="341938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SUMMARY OF LITERATURE REVIEW</a:t>
            </a:r>
            <a:endParaRPr b="1"/>
          </a:p>
        </p:txBody>
      </p:sp>
      <p:sp>
        <p:nvSpPr>
          <p:cNvPr id="95" name="Google Shape;95;p8"/>
          <p:cNvSpPr txBox="1"/>
          <p:nvPr>
            <p:ph idx="1" type="body"/>
          </p:nvPr>
        </p:nvSpPr>
        <p:spPr>
          <a:xfrm>
            <a:off x="369000" y="1182975"/>
            <a:ext cx="8304900" cy="3416400"/>
          </a:xfrm>
          <a:prstGeom prst="rect">
            <a:avLst/>
          </a:prstGeom>
          <a:noFill/>
          <a:ln>
            <a:noFill/>
          </a:ln>
        </p:spPr>
        <p:txBody>
          <a:bodyPr anchorCtr="0" anchor="t" bIns="91425" lIns="91425" spcFirstLastPara="1" rIns="91425" wrap="square" tIns="91425">
            <a:noAutofit/>
          </a:bodyPr>
          <a:lstStyle/>
          <a:p>
            <a:pPr indent="0" lvl="0" marL="0" rtl="0" algn="just">
              <a:lnSpc>
                <a:spcPct val="95000"/>
              </a:lnSpc>
              <a:spcBef>
                <a:spcPts val="0"/>
              </a:spcBef>
              <a:spcAft>
                <a:spcPts val="0"/>
              </a:spcAft>
              <a:buNone/>
            </a:pPr>
            <a:r>
              <a:rPr b="1" lang="en" sz="1700">
                <a:solidFill>
                  <a:schemeClr val="dk1"/>
                </a:solidFill>
              </a:rPr>
              <a:t>Performance Evolution</a:t>
            </a:r>
            <a:endParaRPr b="1" sz="1700">
              <a:solidFill>
                <a:schemeClr val="dk1"/>
              </a:solidFill>
            </a:endParaRPr>
          </a:p>
          <a:p>
            <a:pPr indent="0" lvl="0" marL="0" rtl="0" algn="just">
              <a:lnSpc>
                <a:spcPct val="95000"/>
              </a:lnSpc>
              <a:spcBef>
                <a:spcPts val="0"/>
              </a:spcBef>
              <a:spcAft>
                <a:spcPts val="0"/>
              </a:spcAft>
              <a:buNone/>
            </a:pPr>
            <a:r>
              <a:t/>
            </a:r>
            <a:endParaRPr sz="1400">
              <a:solidFill>
                <a:schemeClr val="dk1"/>
              </a:solidFill>
            </a:endParaRPr>
          </a:p>
          <a:p>
            <a:pPr indent="-318643" lvl="0" marL="457200" rtl="0" algn="just">
              <a:lnSpc>
                <a:spcPct val="95000"/>
              </a:lnSpc>
              <a:spcBef>
                <a:spcPts val="0"/>
              </a:spcBef>
              <a:spcAft>
                <a:spcPts val="0"/>
              </a:spcAft>
              <a:buClr>
                <a:schemeClr val="dk1"/>
              </a:buClr>
              <a:buSzPts val="1418"/>
              <a:buChar char="●"/>
            </a:pPr>
            <a:r>
              <a:rPr lang="en" sz="1400">
                <a:solidFill>
                  <a:schemeClr val="dk1"/>
                </a:solidFill>
              </a:rPr>
              <a:t>Classification accuracy has </a:t>
            </a:r>
            <a:r>
              <a:rPr b="1" lang="en" sz="1400">
                <a:solidFill>
                  <a:schemeClr val="dk1"/>
                </a:solidFill>
              </a:rPr>
              <a:t>consistently increased</a:t>
            </a:r>
            <a:r>
              <a:rPr lang="en" sz="1400">
                <a:solidFill>
                  <a:schemeClr val="dk1"/>
                </a:solidFill>
              </a:rPr>
              <a:t> from ~85% in early CNN-based methods (2020) to </a:t>
            </a:r>
            <a:r>
              <a:rPr b="1" lang="en" sz="1400">
                <a:solidFill>
                  <a:schemeClr val="dk1"/>
                </a:solidFill>
              </a:rPr>
              <a:t>above 93%</a:t>
            </a:r>
            <a:r>
              <a:rPr lang="en" sz="1400">
                <a:solidFill>
                  <a:schemeClr val="dk1"/>
                </a:solidFill>
              </a:rPr>
              <a:t> in recent hybrid and attention-integrated architectures (2024–2025).</a:t>
            </a:r>
            <a:br>
              <a:rPr lang="en" sz="1400">
                <a:solidFill>
                  <a:schemeClr val="dk1"/>
                </a:solidFill>
              </a:rPr>
            </a:br>
            <a:endParaRPr sz="1400">
              <a:solidFill>
                <a:schemeClr val="dk1"/>
              </a:solidFill>
            </a:endParaRPr>
          </a:p>
          <a:p>
            <a:pPr indent="-318643" lvl="0" marL="457200" rtl="0" algn="just">
              <a:lnSpc>
                <a:spcPct val="95000"/>
              </a:lnSpc>
              <a:spcBef>
                <a:spcPts val="0"/>
              </a:spcBef>
              <a:spcAft>
                <a:spcPts val="0"/>
              </a:spcAft>
              <a:buClr>
                <a:schemeClr val="dk1"/>
              </a:buClr>
              <a:buSzPts val="1418"/>
              <a:buChar char="●"/>
            </a:pPr>
            <a:r>
              <a:rPr lang="en" sz="1400">
                <a:solidFill>
                  <a:schemeClr val="dk1"/>
                </a:solidFill>
              </a:rPr>
              <a:t>Early models relied on </a:t>
            </a:r>
            <a:r>
              <a:rPr b="1" lang="en" sz="1400">
                <a:solidFill>
                  <a:schemeClr val="dk1"/>
                </a:solidFill>
              </a:rPr>
              <a:t>handcrafted features and heavy preprocessing</a:t>
            </a:r>
            <a:r>
              <a:rPr lang="en" sz="1400">
                <a:solidFill>
                  <a:schemeClr val="dk1"/>
                </a:solidFill>
              </a:rPr>
              <a:t>, limiting scalability and generalization.</a:t>
            </a:r>
            <a:br>
              <a:rPr lang="en" sz="1400">
                <a:solidFill>
                  <a:schemeClr val="dk1"/>
                </a:solidFill>
              </a:rPr>
            </a:br>
            <a:endParaRPr sz="1400">
              <a:solidFill>
                <a:schemeClr val="dk1"/>
              </a:solidFill>
            </a:endParaRPr>
          </a:p>
          <a:p>
            <a:pPr indent="-318643" lvl="0" marL="457200" rtl="0" algn="just">
              <a:lnSpc>
                <a:spcPct val="95000"/>
              </a:lnSpc>
              <a:spcBef>
                <a:spcPts val="0"/>
              </a:spcBef>
              <a:spcAft>
                <a:spcPts val="0"/>
              </a:spcAft>
              <a:buClr>
                <a:schemeClr val="dk1"/>
              </a:buClr>
              <a:buSzPts val="1418"/>
              <a:buChar char="●"/>
            </a:pPr>
            <a:r>
              <a:rPr lang="en" sz="1400">
                <a:solidFill>
                  <a:schemeClr val="dk1"/>
                </a:solidFill>
              </a:rPr>
              <a:t>The introduction of </a:t>
            </a:r>
            <a:r>
              <a:rPr b="1" lang="en" sz="1400">
                <a:solidFill>
                  <a:schemeClr val="dk1"/>
                </a:solidFill>
              </a:rPr>
              <a:t>attention-enhanced CNNs</a:t>
            </a:r>
            <a:r>
              <a:rPr lang="en" sz="1400">
                <a:solidFill>
                  <a:schemeClr val="dk1"/>
                </a:solidFill>
              </a:rPr>
              <a:t> such as </a:t>
            </a:r>
            <a:r>
              <a:rPr b="1" lang="en" sz="1400">
                <a:solidFill>
                  <a:schemeClr val="dk1"/>
                </a:solidFill>
              </a:rPr>
              <a:t>Att2ResNet</a:t>
            </a:r>
            <a:r>
              <a:rPr lang="en" sz="1400">
                <a:solidFill>
                  <a:schemeClr val="dk1"/>
                </a:solidFill>
              </a:rPr>
              <a:t> and </a:t>
            </a:r>
            <a:r>
              <a:rPr b="1" lang="en" sz="1400">
                <a:solidFill>
                  <a:schemeClr val="dk1"/>
                </a:solidFill>
              </a:rPr>
              <a:t>Eff2Net</a:t>
            </a:r>
            <a:r>
              <a:rPr lang="en" sz="1400">
                <a:solidFill>
                  <a:schemeClr val="dk1"/>
                </a:solidFill>
              </a:rPr>
              <a:t> improved focus on lesion regions and boosted AUC and F1 metrics.</a:t>
            </a:r>
            <a:br>
              <a:rPr lang="en" sz="1400">
                <a:solidFill>
                  <a:schemeClr val="dk1"/>
                </a:solidFill>
              </a:rPr>
            </a:br>
            <a:endParaRPr sz="1400">
              <a:solidFill>
                <a:schemeClr val="dk1"/>
              </a:solidFill>
            </a:endParaRPr>
          </a:p>
          <a:p>
            <a:pPr indent="-318643" lvl="0" marL="457200" rtl="0" algn="just">
              <a:lnSpc>
                <a:spcPct val="95000"/>
              </a:lnSpc>
              <a:spcBef>
                <a:spcPts val="0"/>
              </a:spcBef>
              <a:spcAft>
                <a:spcPts val="0"/>
              </a:spcAft>
              <a:buClr>
                <a:schemeClr val="dk1"/>
              </a:buClr>
              <a:buSzPts val="1418"/>
              <a:buChar char="●"/>
            </a:pPr>
            <a:r>
              <a:rPr b="1" lang="en" sz="1400">
                <a:solidFill>
                  <a:schemeClr val="dk1"/>
                </a:solidFill>
              </a:rPr>
              <a:t>Hybrid CNN–Attention</a:t>
            </a:r>
            <a:r>
              <a:rPr lang="en" sz="1400">
                <a:solidFill>
                  <a:schemeClr val="dk1"/>
                </a:solidFill>
              </a:rPr>
              <a:t> models and </a:t>
            </a:r>
            <a:r>
              <a:rPr b="1" lang="en" sz="1400">
                <a:solidFill>
                  <a:schemeClr val="dk1"/>
                </a:solidFill>
              </a:rPr>
              <a:t>multi-scale fusion frameworks</a:t>
            </a:r>
            <a:r>
              <a:rPr lang="en" sz="1400">
                <a:solidFill>
                  <a:schemeClr val="dk1"/>
                </a:solidFill>
              </a:rPr>
              <a:t> achieved significant gains in robustness across diverse datasets like </a:t>
            </a:r>
            <a:r>
              <a:rPr b="1" lang="en" sz="1400">
                <a:solidFill>
                  <a:schemeClr val="dk1"/>
                </a:solidFill>
              </a:rPr>
              <a:t>ISIC</a:t>
            </a:r>
            <a:r>
              <a:rPr lang="en" sz="1400">
                <a:solidFill>
                  <a:schemeClr val="dk1"/>
                </a:solidFill>
              </a:rPr>
              <a:t> and </a:t>
            </a:r>
            <a:r>
              <a:rPr b="1" lang="en" sz="1400">
                <a:solidFill>
                  <a:schemeClr val="dk1"/>
                </a:solidFill>
              </a:rPr>
              <a:t>HAM10000</a:t>
            </a:r>
            <a:r>
              <a:rPr lang="en" sz="1400">
                <a:solidFill>
                  <a:schemeClr val="dk1"/>
                </a:solidFill>
              </a:rPr>
              <a:t>.</a:t>
            </a:r>
            <a:br>
              <a:rPr lang="en" sz="1400">
                <a:solidFill>
                  <a:schemeClr val="dk1"/>
                </a:solidFill>
              </a:rPr>
            </a:br>
            <a:endParaRPr sz="1400">
              <a:solidFill>
                <a:schemeClr val="dk1"/>
              </a:solidFill>
            </a:endParaRPr>
          </a:p>
          <a:p>
            <a:pPr indent="-318643" lvl="0" marL="457200" rtl="0" algn="just">
              <a:lnSpc>
                <a:spcPct val="95000"/>
              </a:lnSpc>
              <a:spcBef>
                <a:spcPts val="0"/>
              </a:spcBef>
              <a:spcAft>
                <a:spcPts val="0"/>
              </a:spcAft>
              <a:buClr>
                <a:schemeClr val="dk1"/>
              </a:buClr>
              <a:buSzPts val="1418"/>
              <a:buChar char="●"/>
            </a:pPr>
            <a:r>
              <a:rPr b="1" lang="en" sz="1400">
                <a:solidFill>
                  <a:schemeClr val="dk1"/>
                </a:solidFill>
              </a:rPr>
              <a:t>Transformer-based models</a:t>
            </a:r>
            <a:r>
              <a:rPr lang="en" sz="1400">
                <a:solidFill>
                  <a:schemeClr val="dk1"/>
                </a:solidFill>
              </a:rPr>
              <a:t> and </a:t>
            </a:r>
            <a:r>
              <a:rPr b="1" lang="en" sz="1400">
                <a:solidFill>
                  <a:schemeClr val="dk1"/>
                </a:solidFill>
              </a:rPr>
              <a:t>fusion architectures</a:t>
            </a:r>
            <a:r>
              <a:rPr lang="en" sz="1400">
                <a:solidFill>
                  <a:schemeClr val="dk1"/>
                </a:solidFill>
              </a:rPr>
              <a:t> (e.g., EffiCAT, PADBSRNet) captured both local and contextual dependencies, improving classification accuracy but at a cost of increased computational load.</a:t>
            </a:r>
            <a:endParaRPr b="1" sz="1417">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39e8ef4afed_0_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SUMMARY OF LITERATURE REVIEW</a:t>
            </a:r>
            <a:endParaRPr b="1"/>
          </a:p>
        </p:txBody>
      </p:sp>
      <p:sp>
        <p:nvSpPr>
          <p:cNvPr id="101" name="Google Shape;101;g39e8ef4afed_0_53"/>
          <p:cNvSpPr txBox="1"/>
          <p:nvPr>
            <p:ph idx="1" type="body"/>
          </p:nvPr>
        </p:nvSpPr>
        <p:spPr>
          <a:xfrm>
            <a:off x="369000" y="1182975"/>
            <a:ext cx="8304900" cy="34164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b="1" lang="en" sz="1700">
                <a:solidFill>
                  <a:schemeClr val="dk1"/>
                </a:solidFill>
              </a:rPr>
              <a:t>Efficiency &amp; Architectural Insights</a:t>
            </a:r>
            <a:endParaRPr b="1" sz="1700">
              <a:solidFill>
                <a:schemeClr val="dk1"/>
              </a:solidFill>
            </a:endParaRPr>
          </a:p>
          <a:p>
            <a:pPr indent="0" lvl="0" marL="0" rtl="0" algn="l">
              <a:lnSpc>
                <a:spcPct val="95000"/>
              </a:lnSpc>
              <a:spcBef>
                <a:spcPts val="0"/>
              </a:spcBef>
              <a:spcAft>
                <a:spcPts val="0"/>
              </a:spcAft>
              <a:buNone/>
            </a:pPr>
            <a:r>
              <a:t/>
            </a:r>
            <a:endParaRPr sz="1400">
              <a:solidFill>
                <a:schemeClr val="dk1"/>
              </a:solidFill>
            </a:endParaRPr>
          </a:p>
          <a:p>
            <a:pPr indent="-337693" lvl="0" marL="457200" rtl="0" algn="just">
              <a:lnSpc>
                <a:spcPct val="95000"/>
              </a:lnSpc>
              <a:spcBef>
                <a:spcPts val="0"/>
              </a:spcBef>
              <a:spcAft>
                <a:spcPts val="0"/>
              </a:spcAft>
              <a:buClr>
                <a:schemeClr val="dk1"/>
              </a:buClr>
              <a:buSzPts val="1718"/>
              <a:buChar char="●"/>
            </a:pPr>
            <a:r>
              <a:rPr lang="en" sz="1400">
                <a:solidFill>
                  <a:schemeClr val="dk1"/>
                </a:solidFill>
              </a:rPr>
              <a:t>From 2022 onward, research shifted toward </a:t>
            </a:r>
            <a:r>
              <a:rPr b="1" lang="en" sz="1400">
                <a:solidFill>
                  <a:schemeClr val="dk1"/>
                </a:solidFill>
              </a:rPr>
              <a:t>lightweight CNNs</a:t>
            </a:r>
            <a:r>
              <a:rPr lang="en" sz="1400">
                <a:solidFill>
                  <a:schemeClr val="dk1"/>
                </a:solidFill>
              </a:rPr>
              <a:t> and </a:t>
            </a:r>
            <a:r>
              <a:rPr b="1" lang="en" sz="1400">
                <a:solidFill>
                  <a:schemeClr val="dk1"/>
                </a:solidFill>
              </a:rPr>
              <a:t>efficient channel-attention designs</a:t>
            </a:r>
            <a:r>
              <a:rPr lang="en" sz="1400">
                <a:solidFill>
                  <a:schemeClr val="dk1"/>
                </a:solidFill>
              </a:rPr>
              <a:t> to balance accuracy with speed and resource constraints.</a:t>
            </a:r>
            <a:br>
              <a:rPr lang="en" sz="1400">
                <a:solidFill>
                  <a:schemeClr val="dk1"/>
                </a:solidFill>
              </a:rPr>
            </a:br>
            <a:endParaRPr sz="1400">
              <a:solidFill>
                <a:schemeClr val="dk1"/>
              </a:solidFill>
            </a:endParaRPr>
          </a:p>
          <a:p>
            <a:pPr indent="-337693" lvl="0" marL="457200" rtl="0" algn="just">
              <a:lnSpc>
                <a:spcPct val="95000"/>
              </a:lnSpc>
              <a:spcBef>
                <a:spcPts val="0"/>
              </a:spcBef>
              <a:spcAft>
                <a:spcPts val="0"/>
              </a:spcAft>
              <a:buClr>
                <a:schemeClr val="dk1"/>
              </a:buClr>
              <a:buSzPts val="1718"/>
              <a:buChar char="●"/>
            </a:pPr>
            <a:r>
              <a:rPr lang="en" sz="1400">
                <a:solidFill>
                  <a:schemeClr val="dk1"/>
                </a:solidFill>
              </a:rPr>
              <a:t>Models such as </a:t>
            </a:r>
            <a:r>
              <a:rPr b="1" lang="en" sz="1400">
                <a:solidFill>
                  <a:schemeClr val="dk1"/>
                </a:solidFill>
              </a:rPr>
              <a:t>Eff2Net</a:t>
            </a:r>
            <a:r>
              <a:rPr lang="en" sz="1400">
                <a:solidFill>
                  <a:schemeClr val="dk1"/>
                </a:solidFill>
              </a:rPr>
              <a:t>, </a:t>
            </a:r>
            <a:r>
              <a:rPr b="1" lang="en" sz="1400">
                <a:solidFill>
                  <a:schemeClr val="dk1"/>
                </a:solidFill>
              </a:rPr>
              <a:t>Attention-Driven Lightweight CNN</a:t>
            </a:r>
            <a:r>
              <a:rPr lang="en" sz="1400">
                <a:solidFill>
                  <a:schemeClr val="dk1"/>
                </a:solidFill>
              </a:rPr>
              <a:t>, and </a:t>
            </a:r>
            <a:r>
              <a:rPr b="1" lang="en" sz="1400">
                <a:solidFill>
                  <a:schemeClr val="dk1"/>
                </a:solidFill>
              </a:rPr>
              <a:t>Mobile-friendly architectures (2023–2024)</a:t>
            </a:r>
            <a:r>
              <a:rPr lang="en" sz="1400">
                <a:solidFill>
                  <a:schemeClr val="dk1"/>
                </a:solidFill>
              </a:rPr>
              <a:t> achieved </a:t>
            </a:r>
            <a:r>
              <a:rPr b="1" lang="en" sz="1400">
                <a:solidFill>
                  <a:schemeClr val="dk1"/>
                </a:solidFill>
              </a:rPr>
              <a:t>&gt;90% accuracy</a:t>
            </a:r>
            <a:r>
              <a:rPr lang="en" sz="1400">
                <a:solidFill>
                  <a:schemeClr val="dk1"/>
                </a:solidFill>
              </a:rPr>
              <a:t> with reduced parameter counts, suitable for real-time deployment.</a:t>
            </a:r>
            <a:br>
              <a:rPr lang="en" sz="1400">
                <a:solidFill>
                  <a:schemeClr val="dk1"/>
                </a:solidFill>
              </a:rPr>
            </a:br>
            <a:endParaRPr sz="1400">
              <a:solidFill>
                <a:schemeClr val="dk1"/>
              </a:solidFill>
            </a:endParaRPr>
          </a:p>
          <a:p>
            <a:pPr indent="-337693" lvl="0" marL="457200" rtl="0" algn="just">
              <a:lnSpc>
                <a:spcPct val="95000"/>
              </a:lnSpc>
              <a:spcBef>
                <a:spcPts val="0"/>
              </a:spcBef>
              <a:spcAft>
                <a:spcPts val="0"/>
              </a:spcAft>
              <a:buClr>
                <a:schemeClr val="dk1"/>
              </a:buClr>
              <a:buSzPts val="1718"/>
              <a:buChar char="●"/>
            </a:pPr>
            <a:r>
              <a:rPr b="1" lang="en" sz="1400">
                <a:solidFill>
                  <a:schemeClr val="dk1"/>
                </a:solidFill>
              </a:rPr>
              <a:t>Recent studies (2025)</a:t>
            </a:r>
            <a:r>
              <a:rPr lang="en" sz="1400">
                <a:solidFill>
                  <a:schemeClr val="dk1"/>
                </a:solidFill>
              </a:rPr>
              <a:t> emphasize </a:t>
            </a:r>
            <a:r>
              <a:rPr b="1" lang="en" sz="1400">
                <a:solidFill>
                  <a:schemeClr val="dk1"/>
                </a:solidFill>
              </a:rPr>
              <a:t>hybrid and multi-stage frameworks</a:t>
            </a:r>
            <a:r>
              <a:rPr lang="en" sz="1400">
                <a:solidFill>
                  <a:schemeClr val="dk1"/>
                </a:solidFill>
              </a:rPr>
              <a:t> combining CNNs, attention, and boosting/ensemble strategies for enhanced stability and generalization.</a:t>
            </a:r>
            <a:br>
              <a:rPr lang="en" sz="1400">
                <a:solidFill>
                  <a:schemeClr val="dk1"/>
                </a:solidFill>
              </a:rPr>
            </a:br>
            <a:endParaRPr sz="1400">
              <a:solidFill>
                <a:schemeClr val="dk1"/>
              </a:solidFill>
            </a:endParaRPr>
          </a:p>
          <a:p>
            <a:pPr indent="-337693" lvl="0" marL="457200" rtl="0" algn="just">
              <a:lnSpc>
                <a:spcPct val="95000"/>
              </a:lnSpc>
              <a:spcBef>
                <a:spcPts val="0"/>
              </a:spcBef>
              <a:spcAft>
                <a:spcPts val="0"/>
              </a:spcAft>
              <a:buClr>
                <a:schemeClr val="dk1"/>
              </a:buClr>
              <a:buSzPts val="1718"/>
              <a:buChar char="●"/>
            </a:pPr>
            <a:r>
              <a:rPr lang="en" sz="1400">
                <a:solidFill>
                  <a:schemeClr val="dk1"/>
                </a:solidFill>
              </a:rPr>
              <a:t>Despite high accuracies, challenges persist in achieving </a:t>
            </a:r>
            <a:r>
              <a:rPr b="1" lang="en" sz="1400">
                <a:solidFill>
                  <a:schemeClr val="dk1"/>
                </a:solidFill>
              </a:rPr>
              <a:t>computational efficiency</a:t>
            </a:r>
            <a:r>
              <a:rPr lang="en" sz="1400">
                <a:solidFill>
                  <a:schemeClr val="dk1"/>
                </a:solidFill>
              </a:rPr>
              <a:t> without sacrificing diagnostic precision — motivating our proposed </a:t>
            </a:r>
            <a:r>
              <a:rPr b="1" lang="en" sz="1400">
                <a:solidFill>
                  <a:schemeClr val="dk1"/>
                </a:solidFill>
              </a:rPr>
              <a:t>EfficientNet-B3 + SE Attention + XGBoost</a:t>
            </a:r>
            <a:r>
              <a:rPr lang="en" sz="1400">
                <a:solidFill>
                  <a:schemeClr val="dk1"/>
                </a:solidFill>
              </a:rPr>
              <a:t> architecture that optimizes both performance and efficiency.</a:t>
            </a:r>
            <a:endParaRPr sz="17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PROPOSED SYSTEM</a:t>
            </a:r>
            <a:endParaRPr b="1"/>
          </a:p>
        </p:txBody>
      </p:sp>
      <p:graphicFrame>
        <p:nvGraphicFramePr>
          <p:cNvPr id="107" name="Google Shape;107;p9"/>
          <p:cNvGraphicFramePr/>
          <p:nvPr/>
        </p:nvGraphicFramePr>
        <p:xfrm>
          <a:off x="47625" y="1667000"/>
          <a:ext cx="3000000" cy="3000000"/>
        </p:xfrm>
        <a:graphic>
          <a:graphicData uri="http://schemas.openxmlformats.org/drawingml/2006/table">
            <a:tbl>
              <a:tblPr>
                <a:noFill/>
                <a:tableStyleId>{483C9A2C-D441-46AD-BFED-E8A31284C779}</a:tableStyleId>
              </a:tblPr>
              <a:tblGrid>
                <a:gridCol w="4476750"/>
                <a:gridCol w="4619625"/>
              </a:tblGrid>
              <a:tr h="378950">
                <a:tc>
                  <a:txBody>
                    <a:bodyPr/>
                    <a:lstStyle/>
                    <a:p>
                      <a:pPr indent="0" lvl="0" marL="0" rtl="0" algn="ctr">
                        <a:lnSpc>
                          <a:spcPct val="115000"/>
                        </a:lnSpc>
                        <a:spcBef>
                          <a:spcPts val="0"/>
                        </a:spcBef>
                        <a:spcAft>
                          <a:spcPts val="0"/>
                        </a:spcAft>
                        <a:buNone/>
                      </a:pPr>
                      <a:r>
                        <a:rPr b="1" lang="en" sz="1100"/>
                        <a:t>Existing Drawbacks</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Our Proposed Solution</a:t>
                      </a:r>
                      <a:endParaRPr b="1" sz="1100"/>
                    </a:p>
                  </a:txBody>
                  <a:tcPr marT="91425" marB="91425" marR="91425" marL="91425"/>
                </a:tc>
              </a:tr>
              <a:tr h="611000">
                <a:tc>
                  <a:txBody>
                    <a:bodyPr/>
                    <a:lstStyle/>
                    <a:p>
                      <a:pPr indent="0" lvl="0" marL="0" rtl="0" algn="l">
                        <a:spcBef>
                          <a:spcPts val="0"/>
                        </a:spcBef>
                        <a:spcAft>
                          <a:spcPts val="0"/>
                        </a:spcAft>
                        <a:buNone/>
                      </a:pPr>
                      <a:r>
                        <a:rPr lang="en"/>
                        <a:t>Heavy CNN models (ResNet, Transformer-based) require high computation and memory.</a:t>
                      </a:r>
                      <a:endParaRPr/>
                    </a:p>
                  </a:txBody>
                  <a:tcPr marT="91425" marB="91425" marR="91425" marL="91425"/>
                </a:tc>
                <a:tc>
                  <a:txBody>
                    <a:bodyPr/>
                    <a:lstStyle/>
                    <a:p>
                      <a:pPr indent="0" lvl="0" marL="0" rtl="0" algn="l">
                        <a:spcBef>
                          <a:spcPts val="0"/>
                        </a:spcBef>
                        <a:spcAft>
                          <a:spcPts val="0"/>
                        </a:spcAft>
                        <a:buNone/>
                      </a:pPr>
                      <a:r>
                        <a:rPr lang="en"/>
                        <a:t>Use </a:t>
                      </a:r>
                      <a:r>
                        <a:rPr b="1" lang="en"/>
                        <a:t>EfficientNet-B3</a:t>
                      </a:r>
                      <a:r>
                        <a:rPr lang="en"/>
                        <a:t> as a compact base CNN for improved efficiency.</a:t>
                      </a:r>
                      <a:endParaRPr/>
                    </a:p>
                  </a:txBody>
                  <a:tcPr marT="91425" marB="91425" marR="91425" marL="91425"/>
                </a:tc>
              </a:tr>
              <a:tr h="611000">
                <a:tc>
                  <a:txBody>
                    <a:bodyPr/>
                    <a:lstStyle/>
                    <a:p>
                      <a:pPr indent="0" lvl="0" marL="0" rtl="0" algn="l">
                        <a:spcBef>
                          <a:spcPts val="0"/>
                        </a:spcBef>
                        <a:spcAft>
                          <a:spcPts val="0"/>
                        </a:spcAft>
                        <a:buNone/>
                      </a:pPr>
                      <a:r>
                        <a:rPr lang="en"/>
                        <a:t>Attention models increase accuracy but slow inference.</a:t>
                      </a:r>
                      <a:endParaRPr/>
                    </a:p>
                  </a:txBody>
                  <a:tcPr marT="91425" marB="91425" marR="91425" marL="91425"/>
                </a:tc>
                <a:tc>
                  <a:txBody>
                    <a:bodyPr/>
                    <a:lstStyle/>
                    <a:p>
                      <a:pPr indent="0" lvl="0" marL="0" rtl="0" algn="l">
                        <a:spcBef>
                          <a:spcPts val="0"/>
                        </a:spcBef>
                        <a:spcAft>
                          <a:spcPts val="0"/>
                        </a:spcAft>
                        <a:buNone/>
                      </a:pPr>
                      <a:r>
                        <a:rPr lang="en"/>
                        <a:t>Integrate </a:t>
                      </a:r>
                      <a:r>
                        <a:rPr b="1" lang="en"/>
                        <a:t>SE Attention</a:t>
                      </a:r>
                      <a:r>
                        <a:rPr lang="en"/>
                        <a:t>, which is lightweight yet enhances critical channel features.</a:t>
                      </a:r>
                      <a:endParaRPr/>
                    </a:p>
                  </a:txBody>
                  <a:tcPr marT="91425" marB="91425" marR="91425" marL="91425"/>
                </a:tc>
              </a:tr>
              <a:tr h="611000">
                <a:tc>
                  <a:txBody>
                    <a:bodyPr/>
                    <a:lstStyle/>
                    <a:p>
                      <a:pPr indent="0" lvl="0" marL="0" rtl="0" algn="l">
                        <a:spcBef>
                          <a:spcPts val="0"/>
                        </a:spcBef>
                        <a:spcAft>
                          <a:spcPts val="0"/>
                        </a:spcAft>
                        <a:buNone/>
                      </a:pPr>
                      <a:r>
                        <a:rPr lang="en"/>
                        <a:t>Softmax classifier limits decision boundaries and generalization.</a:t>
                      </a:r>
                      <a:endParaRPr/>
                    </a:p>
                  </a:txBody>
                  <a:tcPr marT="91425" marB="91425" marR="91425" marL="91425"/>
                </a:tc>
                <a:tc>
                  <a:txBody>
                    <a:bodyPr/>
                    <a:lstStyle/>
                    <a:p>
                      <a:pPr indent="0" lvl="0" marL="0" rtl="0" algn="l">
                        <a:spcBef>
                          <a:spcPts val="0"/>
                        </a:spcBef>
                        <a:spcAft>
                          <a:spcPts val="0"/>
                        </a:spcAft>
                        <a:buNone/>
                      </a:pPr>
                      <a:r>
                        <a:rPr lang="en"/>
                        <a:t>Replace Softmax with </a:t>
                      </a:r>
                      <a:r>
                        <a:rPr b="1" lang="en"/>
                        <a:t>XGBoost</a:t>
                      </a:r>
                      <a:r>
                        <a:rPr lang="en"/>
                        <a:t>, offering stronger classification and robustness.</a:t>
                      </a:r>
                      <a:endParaRPr/>
                    </a:p>
                  </a:txBody>
                  <a:tcPr marT="91425" marB="91425" marR="91425" marL="91425"/>
                </a:tc>
              </a:tr>
              <a:tr h="533650">
                <a:tc>
                  <a:txBody>
                    <a:bodyPr/>
                    <a:lstStyle/>
                    <a:p>
                      <a:pPr indent="0" lvl="0" marL="0" rtl="0" algn="l">
                        <a:spcBef>
                          <a:spcPts val="0"/>
                        </a:spcBef>
                        <a:spcAft>
                          <a:spcPts val="0"/>
                        </a:spcAft>
                        <a:buNone/>
                      </a:pPr>
                      <a:r>
                        <a:rPr lang="en"/>
                        <a:t>Many models trade off interpretability for accuracy.</a:t>
                      </a:r>
                      <a:endParaRPr/>
                    </a:p>
                  </a:txBody>
                  <a:tcPr marT="91425" marB="91425" marR="91425" marL="91425"/>
                </a:tc>
                <a:tc>
                  <a:txBody>
                    <a:bodyPr/>
                    <a:lstStyle/>
                    <a:p>
                      <a:pPr indent="0" lvl="0" marL="0" rtl="0" algn="l">
                        <a:spcBef>
                          <a:spcPts val="0"/>
                        </a:spcBef>
                        <a:spcAft>
                          <a:spcPts val="0"/>
                        </a:spcAft>
                        <a:buNone/>
                      </a:pPr>
                      <a:r>
                        <a:rPr lang="en"/>
                        <a:t>Our design retains interpretability with </a:t>
                      </a:r>
                      <a:r>
                        <a:rPr b="1" lang="en"/>
                        <a:t>Grad-CAM visualization</a:t>
                      </a:r>
                      <a:r>
                        <a:rPr lang="en"/>
                        <a:t> while remaining efficient.</a:t>
                      </a:r>
                      <a:endParaRPr/>
                    </a:p>
                  </a:txBody>
                  <a:tcPr marT="91425" marB="91425" marR="91425" marL="91425"/>
                </a:tc>
              </a:tr>
            </a:tbl>
          </a:graphicData>
        </a:graphic>
      </p:graphicFrame>
      <p:sp>
        <p:nvSpPr>
          <p:cNvPr id="108" name="Google Shape;108;p9"/>
          <p:cNvSpPr txBox="1"/>
          <p:nvPr/>
        </p:nvSpPr>
        <p:spPr>
          <a:xfrm>
            <a:off x="245263" y="874350"/>
            <a:ext cx="86535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100">
                <a:solidFill>
                  <a:schemeClr val="dk1"/>
                </a:solidFill>
              </a:rPr>
              <a:t>To design a </a:t>
            </a:r>
            <a:r>
              <a:rPr b="1" lang="en" sz="1100">
                <a:solidFill>
                  <a:schemeClr val="dk1"/>
                </a:solidFill>
              </a:rPr>
              <a:t>lightweight yet accurate hybrid model</a:t>
            </a:r>
            <a:r>
              <a:rPr lang="en" sz="1100">
                <a:solidFill>
                  <a:schemeClr val="dk1"/>
                </a:solidFill>
              </a:rPr>
              <a:t> that integrates </a:t>
            </a:r>
            <a:r>
              <a:rPr b="1" lang="en" sz="1100">
                <a:solidFill>
                  <a:schemeClr val="dk1"/>
                </a:solidFill>
              </a:rPr>
              <a:t>CNN feature extraction</a:t>
            </a:r>
            <a:r>
              <a:rPr lang="en" sz="1100">
                <a:solidFill>
                  <a:schemeClr val="dk1"/>
                </a:solidFill>
              </a:rPr>
              <a:t>, </a:t>
            </a:r>
            <a:r>
              <a:rPr b="1" lang="en" sz="1100">
                <a:solidFill>
                  <a:schemeClr val="dk1"/>
                </a:solidFill>
              </a:rPr>
              <a:t>Squeeze-and-Excitation (SE) attention</a:t>
            </a:r>
            <a:r>
              <a:rPr lang="en" sz="1100">
                <a:solidFill>
                  <a:schemeClr val="dk1"/>
                </a:solidFill>
              </a:rPr>
              <a:t>, and </a:t>
            </a:r>
            <a:r>
              <a:rPr b="1" lang="en" sz="1100">
                <a:solidFill>
                  <a:schemeClr val="dk1"/>
                </a:solidFill>
              </a:rPr>
              <a:t>Gradient Boosting</a:t>
            </a:r>
            <a:r>
              <a:rPr lang="en" sz="1100">
                <a:solidFill>
                  <a:schemeClr val="dk1"/>
                </a:solidFill>
              </a:rPr>
              <a:t> for efficient and reliable skin cancer diagnosis.</a:t>
            </a:r>
            <a:endParaRPr sz="11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0"/>
          <p:cNvSpPr txBox="1"/>
          <p:nvPr>
            <p:ph type="title"/>
          </p:nvPr>
        </p:nvSpPr>
        <p:spPr>
          <a:xfrm>
            <a:off x="311700" y="1568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SYSTEM ARCHITECTURE</a:t>
            </a:r>
            <a:endParaRPr b="1"/>
          </a:p>
        </p:txBody>
      </p:sp>
      <p:sp>
        <p:nvSpPr>
          <p:cNvPr id="114" name="Google Shape;114;p10"/>
          <p:cNvSpPr txBox="1"/>
          <p:nvPr/>
        </p:nvSpPr>
        <p:spPr>
          <a:xfrm>
            <a:off x="2876700" y="782725"/>
            <a:ext cx="419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15" name="Google Shape;115;p10"/>
          <p:cNvPicPr preferRelativeResize="0"/>
          <p:nvPr/>
        </p:nvPicPr>
        <p:blipFill>
          <a:blip r:embed="rId3">
            <a:alphaModFix/>
          </a:blip>
          <a:stretch>
            <a:fillRect/>
          </a:stretch>
        </p:blipFill>
        <p:spPr>
          <a:xfrm>
            <a:off x="3313725" y="729550"/>
            <a:ext cx="1903975" cy="42805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SYSTEM REQUIREMENTS - FUNCTIONAL</a:t>
            </a:r>
            <a:endParaRPr b="1"/>
          </a:p>
        </p:txBody>
      </p:sp>
      <p:sp>
        <p:nvSpPr>
          <p:cNvPr id="121" name="Google Shape;121;p11"/>
          <p:cNvSpPr txBox="1"/>
          <p:nvPr/>
        </p:nvSpPr>
        <p:spPr>
          <a:xfrm>
            <a:off x="250350" y="1240150"/>
            <a:ext cx="8643300" cy="3274800"/>
          </a:xfrm>
          <a:prstGeom prst="rect">
            <a:avLst/>
          </a:prstGeom>
          <a:noFill/>
          <a:ln>
            <a:noFill/>
          </a:ln>
        </p:spPr>
        <p:txBody>
          <a:bodyPr anchorCtr="0" anchor="t" bIns="91425" lIns="91425" spcFirstLastPara="1" rIns="91425" wrap="square" tIns="91425">
            <a:spAutoFit/>
          </a:bodyPr>
          <a:lstStyle/>
          <a:p>
            <a:pPr indent="-298450" lvl="0" marL="457200" rtl="0" algn="just">
              <a:lnSpc>
                <a:spcPct val="115000"/>
              </a:lnSpc>
              <a:spcBef>
                <a:spcPts val="1200"/>
              </a:spcBef>
              <a:spcAft>
                <a:spcPts val="0"/>
              </a:spcAft>
              <a:buClr>
                <a:schemeClr val="dk1"/>
              </a:buClr>
              <a:buSzPts val="1100"/>
              <a:buChar char="●"/>
            </a:pPr>
            <a:r>
              <a:rPr lang="en" sz="1100">
                <a:solidFill>
                  <a:schemeClr val="dk1"/>
                </a:solidFill>
              </a:rPr>
              <a:t>The system should </a:t>
            </a:r>
            <a:r>
              <a:rPr b="1" lang="en" sz="1100">
                <a:solidFill>
                  <a:schemeClr val="dk1"/>
                </a:solidFill>
              </a:rPr>
              <a:t>load dermoscopic datasets</a:t>
            </a:r>
            <a:r>
              <a:rPr lang="en" sz="1100">
                <a:solidFill>
                  <a:schemeClr val="dk1"/>
                </a:solidFill>
              </a:rPr>
              <a:t> (ISIC / HAM10000) for both training and testing.</a:t>
            </a:r>
            <a:br>
              <a:rPr lang="en" sz="1100">
                <a:solidFill>
                  <a:schemeClr val="dk1"/>
                </a:solidFill>
              </a:rPr>
            </a:br>
            <a:endParaRPr sz="1100">
              <a:solidFill>
                <a:schemeClr val="dk1"/>
              </a:solidFill>
            </a:endParaRPr>
          </a:p>
          <a:p>
            <a:pPr indent="-298450" lvl="0" marL="457200" rtl="0" algn="just">
              <a:lnSpc>
                <a:spcPct val="115000"/>
              </a:lnSpc>
              <a:spcBef>
                <a:spcPts val="0"/>
              </a:spcBef>
              <a:spcAft>
                <a:spcPts val="0"/>
              </a:spcAft>
              <a:buClr>
                <a:schemeClr val="dk1"/>
              </a:buClr>
              <a:buSzPts val="1100"/>
              <a:buChar char="●"/>
            </a:pPr>
            <a:r>
              <a:rPr lang="en" sz="1100">
                <a:solidFill>
                  <a:schemeClr val="dk1"/>
                </a:solidFill>
              </a:rPr>
              <a:t>Perform </a:t>
            </a:r>
            <a:r>
              <a:rPr b="1" lang="en" sz="1100">
                <a:solidFill>
                  <a:schemeClr val="dk1"/>
                </a:solidFill>
              </a:rPr>
              <a:t>image preprocessing and augmentation</a:t>
            </a:r>
            <a:r>
              <a:rPr lang="en" sz="1100">
                <a:solidFill>
                  <a:schemeClr val="dk1"/>
                </a:solidFill>
              </a:rPr>
              <a:t> — resizing, normalization, random crop, flip, rotation, brightness/contrast adjustments, and CLAHE using Albumentations.</a:t>
            </a:r>
            <a:br>
              <a:rPr lang="en" sz="1100">
                <a:solidFill>
                  <a:schemeClr val="dk1"/>
                </a:solidFill>
              </a:rPr>
            </a:br>
            <a:endParaRPr sz="1100">
              <a:solidFill>
                <a:schemeClr val="dk1"/>
              </a:solidFill>
            </a:endParaRPr>
          </a:p>
          <a:p>
            <a:pPr indent="-298450" lvl="0" marL="457200" rtl="0" algn="just">
              <a:lnSpc>
                <a:spcPct val="115000"/>
              </a:lnSpc>
              <a:spcBef>
                <a:spcPts val="0"/>
              </a:spcBef>
              <a:spcAft>
                <a:spcPts val="0"/>
              </a:spcAft>
              <a:buClr>
                <a:schemeClr val="dk1"/>
              </a:buClr>
              <a:buSzPts val="1100"/>
              <a:buChar char="●"/>
            </a:pPr>
            <a:r>
              <a:rPr b="1" lang="en" sz="1100">
                <a:solidFill>
                  <a:schemeClr val="dk1"/>
                </a:solidFill>
              </a:rPr>
              <a:t>Extract deep features</a:t>
            </a:r>
            <a:r>
              <a:rPr lang="en" sz="1100">
                <a:solidFill>
                  <a:schemeClr val="dk1"/>
                </a:solidFill>
              </a:rPr>
              <a:t> using a pretrained </a:t>
            </a:r>
            <a:r>
              <a:rPr b="1" lang="en" sz="1100">
                <a:solidFill>
                  <a:schemeClr val="dk1"/>
                </a:solidFill>
              </a:rPr>
              <a:t>EfficientNet-B3</a:t>
            </a:r>
            <a:r>
              <a:rPr lang="en" sz="1100">
                <a:solidFill>
                  <a:schemeClr val="dk1"/>
                </a:solidFill>
              </a:rPr>
              <a:t> CNN backbone for efficient and accurate representation learning.</a:t>
            </a:r>
            <a:br>
              <a:rPr lang="en" sz="1100">
                <a:solidFill>
                  <a:schemeClr val="dk1"/>
                </a:solidFill>
              </a:rPr>
            </a:br>
            <a:endParaRPr sz="1100">
              <a:solidFill>
                <a:schemeClr val="dk1"/>
              </a:solidFill>
            </a:endParaRPr>
          </a:p>
          <a:p>
            <a:pPr indent="-298450" lvl="0" marL="457200" rtl="0" algn="just">
              <a:lnSpc>
                <a:spcPct val="115000"/>
              </a:lnSpc>
              <a:spcBef>
                <a:spcPts val="0"/>
              </a:spcBef>
              <a:spcAft>
                <a:spcPts val="0"/>
              </a:spcAft>
              <a:buClr>
                <a:schemeClr val="dk1"/>
              </a:buClr>
              <a:buSzPts val="1100"/>
              <a:buChar char="●"/>
            </a:pPr>
            <a:r>
              <a:rPr lang="en" sz="1100">
                <a:solidFill>
                  <a:schemeClr val="dk1"/>
                </a:solidFill>
              </a:rPr>
              <a:t>Integrate a </a:t>
            </a:r>
            <a:r>
              <a:rPr b="1" lang="en" sz="1100">
                <a:solidFill>
                  <a:schemeClr val="dk1"/>
                </a:solidFill>
              </a:rPr>
              <a:t>Squeeze-and-Excitation (SE) Attention block</a:t>
            </a:r>
            <a:r>
              <a:rPr lang="en" sz="1100">
                <a:solidFill>
                  <a:schemeClr val="dk1"/>
                </a:solidFill>
              </a:rPr>
              <a:t> to enhance channel-wise lesion features and suppress irrelevant information.</a:t>
            </a:r>
            <a:br>
              <a:rPr lang="en" sz="1100">
                <a:solidFill>
                  <a:schemeClr val="dk1"/>
                </a:solidFill>
              </a:rPr>
            </a:br>
            <a:endParaRPr sz="1100">
              <a:solidFill>
                <a:schemeClr val="dk1"/>
              </a:solidFill>
            </a:endParaRPr>
          </a:p>
          <a:p>
            <a:pPr indent="-298450" lvl="0" marL="457200" rtl="0" algn="just">
              <a:lnSpc>
                <a:spcPct val="115000"/>
              </a:lnSpc>
              <a:spcBef>
                <a:spcPts val="0"/>
              </a:spcBef>
              <a:spcAft>
                <a:spcPts val="0"/>
              </a:spcAft>
              <a:buClr>
                <a:schemeClr val="dk1"/>
              </a:buClr>
              <a:buSzPts val="1100"/>
              <a:buChar char="●"/>
            </a:pPr>
            <a:r>
              <a:rPr lang="en" sz="1100">
                <a:solidFill>
                  <a:schemeClr val="dk1"/>
                </a:solidFill>
              </a:rPr>
              <a:t>Generate </a:t>
            </a:r>
            <a:r>
              <a:rPr b="1" lang="en" sz="1100">
                <a:solidFill>
                  <a:schemeClr val="dk1"/>
                </a:solidFill>
              </a:rPr>
              <a:t>512-dimensional feature embeddings</a:t>
            </a:r>
            <a:r>
              <a:rPr lang="en" sz="1100">
                <a:solidFill>
                  <a:schemeClr val="dk1"/>
                </a:solidFill>
              </a:rPr>
              <a:t> through adaptive pooling and dense projection layers.</a:t>
            </a:r>
            <a:br>
              <a:rPr lang="en" sz="1100">
                <a:solidFill>
                  <a:schemeClr val="dk1"/>
                </a:solidFill>
              </a:rPr>
            </a:br>
            <a:endParaRPr sz="1100">
              <a:solidFill>
                <a:schemeClr val="dk1"/>
              </a:solidFill>
            </a:endParaRPr>
          </a:p>
          <a:p>
            <a:pPr indent="-298450" lvl="0" marL="457200" rtl="0" algn="just">
              <a:lnSpc>
                <a:spcPct val="115000"/>
              </a:lnSpc>
              <a:spcBef>
                <a:spcPts val="0"/>
              </a:spcBef>
              <a:spcAft>
                <a:spcPts val="0"/>
              </a:spcAft>
              <a:buClr>
                <a:schemeClr val="dk1"/>
              </a:buClr>
              <a:buSzPts val="1100"/>
              <a:buChar char="●"/>
            </a:pPr>
            <a:r>
              <a:rPr lang="en" sz="1100">
                <a:solidFill>
                  <a:schemeClr val="dk1"/>
                </a:solidFill>
              </a:rPr>
              <a:t>Replace traditional Softmax with </a:t>
            </a:r>
            <a:r>
              <a:rPr b="1" lang="en" sz="1100">
                <a:solidFill>
                  <a:schemeClr val="dk1"/>
                </a:solidFill>
              </a:rPr>
              <a:t>XGBoost</a:t>
            </a:r>
            <a:r>
              <a:rPr lang="en" sz="1100">
                <a:solidFill>
                  <a:schemeClr val="dk1"/>
                </a:solidFill>
              </a:rPr>
              <a:t> for robust gradient-boosted classification.</a:t>
            </a:r>
            <a:br>
              <a:rPr lang="en" sz="1100">
                <a:solidFill>
                  <a:schemeClr val="dk1"/>
                </a:solidFill>
              </a:rPr>
            </a:br>
            <a:endParaRPr sz="1100">
              <a:solidFill>
                <a:schemeClr val="dk1"/>
              </a:solidFill>
            </a:endParaRPr>
          </a:p>
          <a:p>
            <a:pPr indent="-298450" lvl="0" marL="457200" rtl="0" algn="just">
              <a:lnSpc>
                <a:spcPct val="115000"/>
              </a:lnSpc>
              <a:spcBef>
                <a:spcPts val="0"/>
              </a:spcBef>
              <a:spcAft>
                <a:spcPts val="0"/>
              </a:spcAft>
              <a:buClr>
                <a:schemeClr val="dk1"/>
              </a:buClr>
              <a:buSzPts val="1100"/>
              <a:buChar char="●"/>
            </a:pPr>
            <a:r>
              <a:rPr lang="en" sz="1100">
                <a:solidFill>
                  <a:schemeClr val="dk1"/>
                </a:solidFill>
              </a:rPr>
              <a:t>Evaluate system performance using </a:t>
            </a:r>
            <a:r>
              <a:rPr b="1" lang="en" sz="1100">
                <a:solidFill>
                  <a:schemeClr val="dk1"/>
                </a:solidFill>
              </a:rPr>
              <a:t>Accuracy, Precision, Recall, F1-score, and AUC</a:t>
            </a:r>
            <a:r>
              <a:rPr lang="en" sz="1100">
                <a:solidFill>
                  <a:schemeClr val="dk1"/>
                </a:solidFill>
              </a:rPr>
              <a:t> metrics.</a:t>
            </a:r>
            <a:br>
              <a:rPr lang="en" sz="1100">
                <a:solidFill>
                  <a:schemeClr val="dk1"/>
                </a:solidFill>
              </a:rPr>
            </a:br>
            <a:endParaRPr sz="11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9e8ef4afed_0_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SYSTEM REQUIREMENTS – NON-FUNCTIONAL</a:t>
            </a:r>
            <a:endParaRPr b="1"/>
          </a:p>
        </p:txBody>
      </p:sp>
      <p:sp>
        <p:nvSpPr>
          <p:cNvPr id="127" name="Google Shape;127;g39e8ef4afed_0_25"/>
          <p:cNvSpPr txBox="1"/>
          <p:nvPr/>
        </p:nvSpPr>
        <p:spPr>
          <a:xfrm>
            <a:off x="394200" y="1368475"/>
            <a:ext cx="8355600" cy="2770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1200">
                <a:solidFill>
                  <a:schemeClr val="dk1"/>
                </a:solidFill>
              </a:rPr>
              <a:t>High Accuracy and Efficiency:</a:t>
            </a:r>
            <a:r>
              <a:rPr lang="en" sz="1200">
                <a:solidFill>
                  <a:schemeClr val="dk1"/>
                </a:solidFill>
              </a:rPr>
              <a:t> Maintain &gt;90% accuracy while minimizing computational cost.</a:t>
            </a:r>
            <a:br>
              <a:rPr lang="en" sz="1200">
                <a:solidFill>
                  <a:schemeClr val="dk1"/>
                </a:solidFill>
              </a:rPr>
            </a:br>
            <a:endParaRPr sz="1200">
              <a:solidFill>
                <a:schemeClr val="dk1"/>
              </a:solidFill>
            </a:endParaRPr>
          </a:p>
          <a:p>
            <a:pPr indent="0" lvl="0" marL="0" rtl="0" algn="just">
              <a:spcBef>
                <a:spcPts val="0"/>
              </a:spcBef>
              <a:spcAft>
                <a:spcPts val="0"/>
              </a:spcAft>
              <a:buNone/>
            </a:pPr>
            <a:r>
              <a:rPr b="1" lang="en" sz="1200">
                <a:solidFill>
                  <a:schemeClr val="dk1"/>
                </a:solidFill>
              </a:rPr>
              <a:t>Scalability:</a:t>
            </a:r>
            <a:r>
              <a:rPr lang="en" sz="1200">
                <a:solidFill>
                  <a:schemeClr val="dk1"/>
                </a:solidFill>
              </a:rPr>
              <a:t> Should handle large-scale dermoscopic datasets and adaptable batch sizes.</a:t>
            </a:r>
            <a:br>
              <a:rPr lang="en" sz="1200">
                <a:solidFill>
                  <a:schemeClr val="dk1"/>
                </a:solidFill>
              </a:rPr>
            </a:br>
            <a:endParaRPr sz="1200">
              <a:solidFill>
                <a:schemeClr val="dk1"/>
              </a:solidFill>
            </a:endParaRPr>
          </a:p>
          <a:p>
            <a:pPr indent="0" lvl="0" marL="0" rtl="0" algn="just">
              <a:spcBef>
                <a:spcPts val="0"/>
              </a:spcBef>
              <a:spcAft>
                <a:spcPts val="0"/>
              </a:spcAft>
              <a:buNone/>
            </a:pPr>
            <a:r>
              <a:rPr b="1" lang="en" sz="1200">
                <a:solidFill>
                  <a:schemeClr val="dk1"/>
                </a:solidFill>
              </a:rPr>
              <a:t>Reliability:</a:t>
            </a:r>
            <a:r>
              <a:rPr lang="en" sz="1200">
                <a:solidFill>
                  <a:schemeClr val="dk1"/>
                </a:solidFill>
              </a:rPr>
              <a:t> Produce consistent results through controlled random seeds and reproducible operations.</a:t>
            </a:r>
            <a:br>
              <a:rPr lang="en" sz="1200">
                <a:solidFill>
                  <a:schemeClr val="dk1"/>
                </a:solidFill>
              </a:rPr>
            </a:br>
            <a:endParaRPr sz="1200">
              <a:solidFill>
                <a:schemeClr val="dk1"/>
              </a:solidFill>
            </a:endParaRPr>
          </a:p>
          <a:p>
            <a:pPr indent="0" lvl="0" marL="0" rtl="0" algn="just">
              <a:spcBef>
                <a:spcPts val="0"/>
              </a:spcBef>
              <a:spcAft>
                <a:spcPts val="0"/>
              </a:spcAft>
              <a:buNone/>
            </a:pPr>
            <a:r>
              <a:rPr b="1" lang="en" sz="1200">
                <a:solidFill>
                  <a:schemeClr val="dk1"/>
                </a:solidFill>
              </a:rPr>
              <a:t>Portability:</a:t>
            </a:r>
            <a:r>
              <a:rPr lang="en" sz="1200">
                <a:solidFill>
                  <a:schemeClr val="dk1"/>
                </a:solidFill>
              </a:rPr>
              <a:t> Compatible with both GPU and CPU environments; easily extendable for mobile deployment.</a:t>
            </a:r>
            <a:br>
              <a:rPr lang="en" sz="1200">
                <a:solidFill>
                  <a:schemeClr val="dk1"/>
                </a:solidFill>
              </a:rPr>
            </a:br>
            <a:endParaRPr sz="1200">
              <a:solidFill>
                <a:schemeClr val="dk1"/>
              </a:solidFill>
            </a:endParaRPr>
          </a:p>
          <a:p>
            <a:pPr indent="0" lvl="0" marL="0" rtl="0" algn="just">
              <a:spcBef>
                <a:spcPts val="0"/>
              </a:spcBef>
              <a:spcAft>
                <a:spcPts val="0"/>
              </a:spcAft>
              <a:buNone/>
            </a:pPr>
            <a:r>
              <a:rPr b="1" lang="en" sz="1200">
                <a:solidFill>
                  <a:schemeClr val="dk1"/>
                </a:solidFill>
              </a:rPr>
              <a:t>Maintainability:</a:t>
            </a:r>
            <a:r>
              <a:rPr lang="en" sz="1200">
                <a:solidFill>
                  <a:schemeClr val="dk1"/>
                </a:solidFill>
              </a:rPr>
              <a:t> Modular code structure separating data, model, attention, and classification components.</a:t>
            </a:r>
            <a:br>
              <a:rPr lang="en" sz="1200">
                <a:solidFill>
                  <a:schemeClr val="dk1"/>
                </a:solidFill>
              </a:rPr>
            </a:br>
            <a:endParaRPr sz="1200">
              <a:solidFill>
                <a:schemeClr val="dk1"/>
              </a:solidFill>
            </a:endParaRPr>
          </a:p>
          <a:p>
            <a:pPr indent="0" lvl="0" marL="0" rtl="0" algn="just">
              <a:spcBef>
                <a:spcPts val="0"/>
              </a:spcBef>
              <a:spcAft>
                <a:spcPts val="0"/>
              </a:spcAft>
              <a:buNone/>
            </a:pPr>
            <a:r>
              <a:rPr b="1" lang="en" sz="1200">
                <a:solidFill>
                  <a:schemeClr val="dk1"/>
                </a:solidFill>
              </a:rPr>
              <a:t>Resource Optimization:</a:t>
            </a:r>
            <a:r>
              <a:rPr lang="en" sz="1200">
                <a:solidFill>
                  <a:schemeClr val="dk1"/>
                </a:solidFill>
              </a:rPr>
              <a:t> Lightweight model achieved using EfficientNet-B3 and SE Attention for reduced parameters.</a:t>
            </a:r>
            <a:br>
              <a:rPr lang="en" sz="1200">
                <a:solidFill>
                  <a:schemeClr val="dk1"/>
                </a:solidFill>
              </a:rPr>
            </a:br>
            <a:endParaRPr sz="1200">
              <a:solidFill>
                <a:schemeClr val="dk1"/>
              </a:solidFill>
            </a:endParaRPr>
          </a:p>
          <a:p>
            <a:pPr indent="0" lvl="0" marL="0" rtl="0" algn="just">
              <a:spcBef>
                <a:spcPts val="0"/>
              </a:spcBef>
              <a:spcAft>
                <a:spcPts val="0"/>
              </a:spcAft>
              <a:buNone/>
            </a:pPr>
            <a:r>
              <a:rPr b="1" lang="en" sz="1200">
                <a:solidFill>
                  <a:schemeClr val="dk1"/>
                </a:solidFill>
              </a:rPr>
              <a:t>Deployment Readiness:</a:t>
            </a:r>
            <a:r>
              <a:rPr lang="en" sz="1200">
                <a:solidFill>
                  <a:schemeClr val="dk1"/>
                </a:solidFill>
              </a:rPr>
              <a:t> Designed for easy integration into real-time diagnostic pipelines or cloud-based inference systems.</a:t>
            </a:r>
            <a:endParaRPr sz="12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9e8ef4afed_0_37"/>
          <p:cNvSpPr txBox="1"/>
          <p:nvPr>
            <p:ph type="title"/>
          </p:nvPr>
        </p:nvSpPr>
        <p:spPr>
          <a:xfrm>
            <a:off x="311700" y="2214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MODULES</a:t>
            </a:r>
            <a:endParaRPr b="1"/>
          </a:p>
        </p:txBody>
      </p:sp>
      <p:sp>
        <p:nvSpPr>
          <p:cNvPr id="133" name="Google Shape;133;g39e8ef4afed_0_37"/>
          <p:cNvSpPr txBox="1"/>
          <p:nvPr/>
        </p:nvSpPr>
        <p:spPr>
          <a:xfrm>
            <a:off x="233800" y="794100"/>
            <a:ext cx="4338300" cy="42483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400"/>
              </a:spcBef>
              <a:spcAft>
                <a:spcPts val="0"/>
              </a:spcAft>
              <a:buClr>
                <a:schemeClr val="dk1"/>
              </a:buClr>
              <a:buSzPts val="1100"/>
              <a:buAutoNum type="arabicPeriod"/>
            </a:pPr>
            <a:r>
              <a:rPr b="1" lang="en" sz="1100">
                <a:solidFill>
                  <a:schemeClr val="dk1"/>
                </a:solidFill>
              </a:rPr>
              <a:t>Data Acquisition &amp; Preprocessin</a:t>
            </a:r>
            <a:r>
              <a:rPr b="1" lang="en" sz="1100">
                <a:solidFill>
                  <a:schemeClr val="dk1"/>
                </a:solidFill>
              </a:rPr>
              <a:t>g</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Collect dermoscopic images from </a:t>
            </a:r>
            <a:r>
              <a:rPr b="1" lang="en" sz="1100">
                <a:solidFill>
                  <a:schemeClr val="dk1"/>
                </a:solidFill>
              </a:rPr>
              <a:t>ISIC</a:t>
            </a:r>
            <a:r>
              <a:rPr lang="en" sz="1100">
                <a:solidFill>
                  <a:schemeClr val="dk1"/>
                </a:solidFill>
              </a:rPr>
              <a:t> and </a:t>
            </a:r>
            <a:r>
              <a:rPr b="1" lang="en" sz="1100">
                <a:solidFill>
                  <a:schemeClr val="dk1"/>
                </a:solidFill>
              </a:rPr>
              <a:t>HAM10000</a:t>
            </a:r>
            <a:r>
              <a:rPr lang="en" sz="1100">
                <a:solidFill>
                  <a:schemeClr val="dk1"/>
                </a:solidFill>
              </a:rPr>
              <a:t> datasets. </a:t>
            </a:r>
            <a:r>
              <a:rPr lang="en" sz="1100">
                <a:solidFill>
                  <a:schemeClr val="dk1"/>
                </a:solidFill>
              </a:rPr>
              <a:t>Organize images into </a:t>
            </a:r>
            <a:r>
              <a:rPr b="1" lang="en" sz="1100">
                <a:solidFill>
                  <a:schemeClr val="dk1"/>
                </a:solidFill>
              </a:rPr>
              <a:t>train / test</a:t>
            </a:r>
            <a:r>
              <a:rPr lang="en" sz="1100">
                <a:solidFill>
                  <a:schemeClr val="dk1"/>
                </a:solidFill>
              </a:rPr>
              <a:t> folders.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Apply </a:t>
            </a:r>
            <a:r>
              <a:rPr b="1" lang="en" sz="1100">
                <a:solidFill>
                  <a:schemeClr val="dk1"/>
                </a:solidFill>
              </a:rPr>
              <a:t>Albumentations</a:t>
            </a:r>
            <a:r>
              <a:rPr lang="en" sz="1100">
                <a:solidFill>
                  <a:schemeClr val="dk1"/>
                </a:solidFill>
              </a:rPr>
              <a:t> pipeline: random crop, flip, rotation, brightness/contrast adjustment, CLAHE, and normalization.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Output: preprocessed and augmented image tensors ready for training.</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rPr>
              <a:t>Feature Extraction Module</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Backbone: </a:t>
            </a:r>
            <a:r>
              <a:rPr b="1" lang="en" sz="1100">
                <a:solidFill>
                  <a:schemeClr val="dk1"/>
                </a:solidFill>
              </a:rPr>
              <a:t>EfficientNet-B3</a:t>
            </a:r>
            <a:r>
              <a:rPr lang="en" sz="1100">
                <a:solidFill>
                  <a:schemeClr val="dk1"/>
                </a:solidFill>
              </a:rPr>
              <a:t> pretrained on ImageNet (via </a:t>
            </a:r>
            <a:r>
              <a:rPr lang="en" sz="1100">
                <a:solidFill>
                  <a:srgbClr val="188038"/>
                </a:solidFill>
                <a:latin typeface="Roboto Mono"/>
                <a:ea typeface="Roboto Mono"/>
                <a:cs typeface="Roboto Mono"/>
                <a:sym typeface="Roboto Mono"/>
              </a:rPr>
              <a:t>timm</a:t>
            </a:r>
            <a:r>
              <a:rPr lang="e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Extracts hierarchical multi-scale lesion features.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Provides high accuracy with fewer parameters than ResNet or VGG.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Output: rich convolutional feature maps.</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rPr>
              <a:t>Attention Enhancement Module</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Implements </a:t>
            </a:r>
            <a:r>
              <a:rPr b="1" lang="en" sz="1100">
                <a:solidFill>
                  <a:schemeClr val="dk1"/>
                </a:solidFill>
              </a:rPr>
              <a:t>Squeeze-and-Excitation (SE) Block</a:t>
            </a:r>
            <a:r>
              <a:rPr lang="en" sz="1100">
                <a:solidFill>
                  <a:schemeClr val="dk1"/>
                </a:solidFill>
              </a:rPr>
              <a:t> for </a:t>
            </a:r>
            <a:r>
              <a:rPr b="1" lang="en" sz="1100">
                <a:solidFill>
                  <a:schemeClr val="dk1"/>
                </a:solidFill>
              </a:rPr>
              <a:t>channel-wise attention</a:t>
            </a:r>
            <a:r>
              <a:rPr lang="e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Learns which feature channels are most relevant to lesion patterns.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Enhances discriminative features while suppressing background noise</a:t>
            </a:r>
            <a:r>
              <a:rPr lang="en" sz="1100">
                <a:solidFill>
                  <a:schemeClr val="dk1"/>
                </a:solidFill>
              </a:rPr>
              <a:t>.</a:t>
            </a:r>
            <a:endParaRPr sz="1100">
              <a:solidFill>
                <a:schemeClr val="dk1"/>
              </a:solidFill>
            </a:endParaRPr>
          </a:p>
        </p:txBody>
      </p:sp>
      <p:sp>
        <p:nvSpPr>
          <p:cNvPr id="134" name="Google Shape;134;g39e8ef4afed_0_37"/>
          <p:cNvSpPr txBox="1"/>
          <p:nvPr/>
        </p:nvSpPr>
        <p:spPr>
          <a:xfrm>
            <a:off x="4572000" y="794100"/>
            <a:ext cx="4457700" cy="4053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400"/>
              </a:spcBef>
              <a:spcAft>
                <a:spcPts val="0"/>
              </a:spcAft>
              <a:buNone/>
            </a:pPr>
            <a:r>
              <a:rPr b="1" lang="en" sz="1100">
                <a:solidFill>
                  <a:schemeClr val="dk1"/>
                </a:solidFill>
              </a:rPr>
              <a:t>  4.     </a:t>
            </a:r>
            <a:r>
              <a:rPr b="1" lang="en" sz="1100">
                <a:solidFill>
                  <a:schemeClr val="dk1"/>
                </a:solidFill>
              </a:rPr>
              <a:t>Embedding Generation Module</a:t>
            </a:r>
            <a:endParaRPr b="1" sz="1100">
              <a:solidFill>
                <a:schemeClr val="dk1"/>
              </a:solidFill>
            </a:endParaRPr>
          </a:p>
          <a:p>
            <a:pPr indent="-298450" lvl="0" marL="457200" rtl="0" algn="l">
              <a:lnSpc>
                <a:spcPct val="100000"/>
              </a:lnSpc>
              <a:spcBef>
                <a:spcPts val="1200"/>
              </a:spcBef>
              <a:spcAft>
                <a:spcPts val="0"/>
              </a:spcAft>
              <a:buClr>
                <a:schemeClr val="dk1"/>
              </a:buClr>
              <a:buSzPts val="1100"/>
              <a:buChar char="●"/>
            </a:pPr>
            <a:r>
              <a:rPr lang="en" sz="1100">
                <a:solidFill>
                  <a:schemeClr val="dk1"/>
                </a:solidFill>
              </a:rPr>
              <a:t>Applies </a:t>
            </a:r>
            <a:r>
              <a:rPr b="1" lang="en" sz="1100">
                <a:solidFill>
                  <a:schemeClr val="dk1"/>
                </a:solidFill>
              </a:rPr>
              <a:t>adaptive average pooling</a:t>
            </a:r>
            <a:r>
              <a:rPr lang="en" sz="1100">
                <a:solidFill>
                  <a:schemeClr val="dk1"/>
                </a:solidFill>
              </a:rPr>
              <a:t> and a fully connected layer to compress CNN outputs into </a:t>
            </a:r>
            <a:r>
              <a:rPr b="1" lang="en" sz="1100">
                <a:solidFill>
                  <a:schemeClr val="dk1"/>
                </a:solidFill>
              </a:rPr>
              <a:t>512-dimensional embeddings</a:t>
            </a:r>
            <a:r>
              <a:rPr lang="en" sz="1100">
                <a:solidFill>
                  <a:schemeClr val="dk1"/>
                </a:solidFill>
              </a:rPr>
              <a:t>.</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These embeddings act as compact feature representations for classification.</a:t>
            </a:r>
            <a:endParaRPr sz="1100">
              <a:solidFill>
                <a:schemeClr val="dk1"/>
              </a:solidFill>
            </a:endParaRPr>
          </a:p>
          <a:p>
            <a:pPr indent="0" lvl="0" marL="0" rtl="0" algn="l">
              <a:lnSpc>
                <a:spcPct val="100000"/>
              </a:lnSpc>
              <a:spcBef>
                <a:spcPts val="1400"/>
              </a:spcBef>
              <a:spcAft>
                <a:spcPts val="0"/>
              </a:spcAft>
              <a:buNone/>
            </a:pPr>
            <a:r>
              <a:rPr b="1" lang="en" sz="1100">
                <a:solidFill>
                  <a:schemeClr val="dk1"/>
                </a:solidFill>
              </a:rPr>
              <a:t>   5.    </a:t>
            </a:r>
            <a:r>
              <a:rPr b="1" lang="en" sz="1100">
                <a:solidFill>
                  <a:schemeClr val="dk1"/>
                </a:solidFill>
              </a:rPr>
              <a:t>Classification Module</a:t>
            </a:r>
            <a:endParaRPr b="1" sz="1100">
              <a:solidFill>
                <a:schemeClr val="dk1"/>
              </a:solidFill>
            </a:endParaRPr>
          </a:p>
          <a:p>
            <a:pPr indent="-298450" lvl="0" marL="457200" rtl="0" algn="l">
              <a:lnSpc>
                <a:spcPct val="100000"/>
              </a:lnSpc>
              <a:spcBef>
                <a:spcPts val="1200"/>
              </a:spcBef>
              <a:spcAft>
                <a:spcPts val="0"/>
              </a:spcAft>
              <a:buClr>
                <a:schemeClr val="dk1"/>
              </a:buClr>
              <a:buSzPts val="1100"/>
              <a:buChar char="●"/>
            </a:pPr>
            <a:r>
              <a:rPr lang="en" sz="1100">
                <a:solidFill>
                  <a:schemeClr val="dk1"/>
                </a:solidFill>
              </a:rPr>
              <a:t>Uses </a:t>
            </a:r>
            <a:r>
              <a:rPr b="1" lang="en" sz="1100">
                <a:solidFill>
                  <a:schemeClr val="dk1"/>
                </a:solidFill>
              </a:rPr>
              <a:t>XGBoost</a:t>
            </a:r>
            <a:r>
              <a:rPr lang="en" sz="1100">
                <a:solidFill>
                  <a:schemeClr val="dk1"/>
                </a:solidFill>
              </a:rPr>
              <a:t> instead of Softmax for robust decision boundaries.</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Trains on extracted embeddings from CNN + SE pipeline.</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Predicts lesion class probabilities with improved precision and recall.</a:t>
            </a:r>
            <a:endParaRPr sz="1100">
              <a:solidFill>
                <a:schemeClr val="dk1"/>
              </a:solidFill>
            </a:endParaRPr>
          </a:p>
          <a:p>
            <a:pPr indent="0" lvl="0" marL="0" rtl="0" algn="l">
              <a:lnSpc>
                <a:spcPct val="100000"/>
              </a:lnSpc>
              <a:spcBef>
                <a:spcPts val="1400"/>
              </a:spcBef>
              <a:spcAft>
                <a:spcPts val="0"/>
              </a:spcAft>
              <a:buNone/>
            </a:pPr>
            <a:r>
              <a:rPr b="1" lang="en" sz="1100">
                <a:solidFill>
                  <a:schemeClr val="dk1"/>
                </a:solidFill>
              </a:rPr>
              <a:t>   6.   </a:t>
            </a:r>
            <a:r>
              <a:rPr b="1" lang="en" sz="1100">
                <a:solidFill>
                  <a:schemeClr val="dk1"/>
                </a:solidFill>
              </a:rPr>
              <a:t>Evaluation &amp; Metrics Module</a:t>
            </a:r>
            <a:endParaRPr b="1" sz="1100">
              <a:solidFill>
                <a:schemeClr val="dk1"/>
              </a:solidFill>
            </a:endParaRPr>
          </a:p>
          <a:p>
            <a:pPr indent="-298450" lvl="0" marL="457200" rtl="0" algn="l">
              <a:lnSpc>
                <a:spcPct val="100000"/>
              </a:lnSpc>
              <a:spcBef>
                <a:spcPts val="1200"/>
              </a:spcBef>
              <a:spcAft>
                <a:spcPts val="0"/>
              </a:spcAft>
              <a:buClr>
                <a:schemeClr val="dk1"/>
              </a:buClr>
              <a:buSzPts val="1100"/>
              <a:buChar char="●"/>
            </a:pPr>
            <a:r>
              <a:rPr lang="en" sz="1100">
                <a:solidFill>
                  <a:schemeClr val="dk1"/>
                </a:solidFill>
              </a:rPr>
              <a:t>Computes </a:t>
            </a:r>
            <a:r>
              <a:rPr b="1" lang="en" sz="1100">
                <a:solidFill>
                  <a:schemeClr val="dk1"/>
                </a:solidFill>
              </a:rPr>
              <a:t>AUC, Accuracy, Precision, Recall, and F1-score</a:t>
            </a:r>
            <a:r>
              <a:rPr lang="en" sz="1100">
                <a:solidFill>
                  <a:schemeClr val="dk1"/>
                </a:solidFill>
              </a:rPr>
              <a:t> using </a:t>
            </a:r>
            <a:r>
              <a:rPr lang="en" sz="1100">
                <a:solidFill>
                  <a:srgbClr val="188038"/>
                </a:solidFill>
                <a:latin typeface="Roboto Mono"/>
                <a:ea typeface="Roboto Mono"/>
                <a:cs typeface="Roboto Mono"/>
                <a:sym typeface="Roboto Mono"/>
              </a:rPr>
              <a:t>sklearn.metrics</a:t>
            </a:r>
            <a:r>
              <a:rPr lang="en" sz="1100">
                <a:solidFill>
                  <a:schemeClr val="dk1"/>
                </a:solidFill>
              </a:rPr>
              <a:t>.</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Identifies the best epoch via validation AUC tracking.</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Optionally integrates </a:t>
            </a:r>
            <a:r>
              <a:rPr b="1" lang="en" sz="1100">
                <a:solidFill>
                  <a:schemeClr val="dk1"/>
                </a:solidFill>
              </a:rPr>
              <a:t>Grad-CAM visualization</a:t>
            </a:r>
            <a:r>
              <a:rPr lang="en" sz="1100">
                <a:solidFill>
                  <a:schemeClr val="dk1"/>
                </a:solidFill>
              </a:rPr>
              <a:t> for lesion-region verification.</a:t>
            </a:r>
            <a:endParaRPr sz="1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9e8ef4afed_0_8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UML DIAGRAMS - </a:t>
            </a:r>
            <a:r>
              <a:rPr b="1" lang="en"/>
              <a:t>Sequence Diagram</a:t>
            </a:r>
            <a:endParaRPr b="1"/>
          </a:p>
        </p:txBody>
      </p:sp>
      <p:pic>
        <p:nvPicPr>
          <p:cNvPr id="140" name="Google Shape;140;g39e8ef4afed_0_89"/>
          <p:cNvPicPr preferRelativeResize="0"/>
          <p:nvPr/>
        </p:nvPicPr>
        <p:blipFill>
          <a:blip r:embed="rId3">
            <a:alphaModFix/>
          </a:blip>
          <a:stretch>
            <a:fillRect/>
          </a:stretch>
        </p:blipFill>
        <p:spPr>
          <a:xfrm>
            <a:off x="152400" y="1454725"/>
            <a:ext cx="8839198" cy="290984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9e8ef4afed_0_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UML DIAGRAMS - Activity / Flow Diagram</a:t>
            </a:r>
            <a:endParaRPr b="1"/>
          </a:p>
        </p:txBody>
      </p:sp>
      <p:pic>
        <p:nvPicPr>
          <p:cNvPr id="146" name="Google Shape;146;g39e8ef4afed_0_19"/>
          <p:cNvPicPr preferRelativeResize="0"/>
          <p:nvPr/>
        </p:nvPicPr>
        <p:blipFill>
          <a:blip r:embed="rId3">
            <a:alphaModFix/>
          </a:blip>
          <a:stretch>
            <a:fillRect/>
          </a:stretch>
        </p:blipFill>
        <p:spPr>
          <a:xfrm>
            <a:off x="2907150" y="1017725"/>
            <a:ext cx="2778214" cy="38209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a0d2869956_0_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UML DIAGRAMS - Use Case Diagram</a:t>
            </a:r>
            <a:endParaRPr b="1"/>
          </a:p>
        </p:txBody>
      </p:sp>
      <p:pic>
        <p:nvPicPr>
          <p:cNvPr id="152" name="Google Shape;152;g3a0d2869956_0_5"/>
          <p:cNvPicPr preferRelativeResize="0"/>
          <p:nvPr/>
        </p:nvPicPr>
        <p:blipFill rotWithShape="1">
          <a:blip r:embed="rId3">
            <a:alphaModFix/>
          </a:blip>
          <a:srcRect b="0" l="1156" r="0" t="0"/>
          <a:stretch/>
        </p:blipFill>
        <p:spPr>
          <a:xfrm>
            <a:off x="2883488" y="1081400"/>
            <a:ext cx="3377024" cy="3820976"/>
          </a:xfrm>
          <a:prstGeom prst="rect">
            <a:avLst/>
          </a:prstGeom>
          <a:noFill/>
          <a:ln>
            <a:noFill/>
          </a:ln>
        </p:spPr>
      </p:pic>
      <p:cxnSp>
        <p:nvCxnSpPr>
          <p:cNvPr id="153" name="Google Shape;153;g3a0d2869956_0_5"/>
          <p:cNvCxnSpPr/>
          <p:nvPr/>
        </p:nvCxnSpPr>
        <p:spPr>
          <a:xfrm>
            <a:off x="6244875" y="1129575"/>
            <a:ext cx="19200" cy="37692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9e8ef4afed_0_31"/>
          <p:cNvSpPr txBox="1"/>
          <p:nvPr>
            <p:ph type="title"/>
          </p:nvPr>
        </p:nvSpPr>
        <p:spPr>
          <a:xfrm>
            <a:off x="311700" y="4247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STATUS</a:t>
            </a:r>
            <a:endParaRPr b="1"/>
          </a:p>
        </p:txBody>
      </p:sp>
      <p:sp>
        <p:nvSpPr>
          <p:cNvPr id="159" name="Google Shape;159;g39e8ef4afed_0_31"/>
          <p:cNvSpPr txBox="1"/>
          <p:nvPr/>
        </p:nvSpPr>
        <p:spPr>
          <a:xfrm>
            <a:off x="311700" y="997400"/>
            <a:ext cx="8520600" cy="3818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400"/>
              </a:spcBef>
              <a:spcAft>
                <a:spcPts val="0"/>
              </a:spcAft>
              <a:buNone/>
            </a:pPr>
            <a:r>
              <a:rPr b="1" lang="en" sz="1100">
                <a:solidFill>
                  <a:schemeClr val="dk1"/>
                </a:solidFill>
              </a:rPr>
              <a:t>Completed Wor</a:t>
            </a:r>
            <a:r>
              <a:rPr b="1" lang="en" sz="1100">
                <a:solidFill>
                  <a:schemeClr val="dk1"/>
                </a:solidFill>
              </a:rPr>
              <a:t>k</a:t>
            </a:r>
            <a:endParaRPr b="1" sz="1100">
              <a:solidFill>
                <a:schemeClr val="dk1"/>
              </a:solidFill>
            </a:endParaRPr>
          </a:p>
          <a:p>
            <a:pPr indent="-298450" lvl="0" marL="457200" rtl="0" algn="just">
              <a:lnSpc>
                <a:spcPct val="115000"/>
              </a:lnSpc>
              <a:spcBef>
                <a:spcPts val="1200"/>
              </a:spcBef>
              <a:spcAft>
                <a:spcPts val="0"/>
              </a:spcAft>
              <a:buClr>
                <a:schemeClr val="dk1"/>
              </a:buClr>
              <a:buSzPts val="1100"/>
              <a:buChar char="●"/>
            </a:pPr>
            <a:r>
              <a:rPr b="1" lang="en" sz="1100">
                <a:solidFill>
                  <a:schemeClr val="dk1"/>
                </a:solidFill>
              </a:rPr>
              <a:t>Literature Review</a:t>
            </a:r>
            <a:r>
              <a:rPr b="1" lang="en" sz="1100">
                <a:solidFill>
                  <a:schemeClr val="dk1"/>
                </a:solidFill>
              </a:rPr>
              <a:t>:</a:t>
            </a:r>
            <a:endParaRPr b="1" sz="1100">
              <a:solidFill>
                <a:schemeClr val="dk1"/>
              </a:solidFill>
            </a:endParaRPr>
          </a:p>
          <a:p>
            <a:pPr indent="-298450" lvl="1" marL="914400" rtl="0" algn="just">
              <a:lnSpc>
                <a:spcPct val="115000"/>
              </a:lnSpc>
              <a:spcBef>
                <a:spcPts val="0"/>
              </a:spcBef>
              <a:spcAft>
                <a:spcPts val="0"/>
              </a:spcAft>
              <a:buClr>
                <a:schemeClr val="dk1"/>
              </a:buClr>
              <a:buSzPts val="1100"/>
              <a:buChar char="○"/>
            </a:pPr>
            <a:r>
              <a:rPr lang="en" sz="1100">
                <a:solidFill>
                  <a:schemeClr val="dk1"/>
                </a:solidFill>
              </a:rPr>
              <a:t>Reviewed 20 recent papers (2020–2025) on CNNs, Attention, and Hybrid architectures.</a:t>
            </a:r>
            <a:endParaRPr sz="1100">
              <a:solidFill>
                <a:schemeClr val="dk1"/>
              </a:solidFill>
            </a:endParaRPr>
          </a:p>
          <a:p>
            <a:pPr indent="-298450" lvl="1" marL="914400" rtl="0" algn="just">
              <a:lnSpc>
                <a:spcPct val="115000"/>
              </a:lnSpc>
              <a:spcBef>
                <a:spcPts val="0"/>
              </a:spcBef>
              <a:spcAft>
                <a:spcPts val="0"/>
              </a:spcAft>
              <a:buClr>
                <a:schemeClr val="dk1"/>
              </a:buClr>
              <a:buSzPts val="1100"/>
              <a:buChar char="○"/>
            </a:pPr>
            <a:r>
              <a:rPr lang="en" sz="1100">
                <a:solidFill>
                  <a:schemeClr val="dk1"/>
                </a:solidFill>
              </a:rPr>
              <a:t>Identified the key research gap — lack of integration between attention-based CNNs and robust classifiers (like XGBoost).</a:t>
            </a:r>
            <a:endParaRPr sz="1100">
              <a:solidFill>
                <a:schemeClr val="dk1"/>
              </a:solidFill>
            </a:endParaRPr>
          </a:p>
          <a:p>
            <a:pPr indent="-298450" lvl="0" marL="457200" rtl="0" algn="just">
              <a:lnSpc>
                <a:spcPct val="115000"/>
              </a:lnSpc>
              <a:spcBef>
                <a:spcPts val="0"/>
              </a:spcBef>
              <a:spcAft>
                <a:spcPts val="0"/>
              </a:spcAft>
              <a:buClr>
                <a:schemeClr val="dk1"/>
              </a:buClr>
              <a:buSzPts val="1100"/>
              <a:buChar char="●"/>
            </a:pPr>
            <a:r>
              <a:rPr b="1" lang="en" sz="1100">
                <a:solidFill>
                  <a:schemeClr val="dk1"/>
                </a:solidFill>
              </a:rPr>
              <a:t>Dataset Preparation:</a:t>
            </a:r>
            <a:endParaRPr b="1" sz="1100">
              <a:solidFill>
                <a:schemeClr val="dk1"/>
              </a:solidFill>
            </a:endParaRPr>
          </a:p>
          <a:p>
            <a:pPr indent="-298450" lvl="1" marL="914400" rtl="0" algn="just">
              <a:lnSpc>
                <a:spcPct val="115000"/>
              </a:lnSpc>
              <a:spcBef>
                <a:spcPts val="0"/>
              </a:spcBef>
              <a:spcAft>
                <a:spcPts val="0"/>
              </a:spcAft>
              <a:buClr>
                <a:schemeClr val="dk1"/>
              </a:buClr>
              <a:buSzPts val="1100"/>
              <a:buChar char="○"/>
            </a:pPr>
            <a:r>
              <a:rPr lang="en" sz="1100">
                <a:solidFill>
                  <a:schemeClr val="dk1"/>
                </a:solidFill>
              </a:rPr>
              <a:t>Acquired and preprocessed </a:t>
            </a:r>
            <a:r>
              <a:rPr b="1" lang="en" sz="1100">
                <a:solidFill>
                  <a:schemeClr val="dk1"/>
                </a:solidFill>
              </a:rPr>
              <a:t>ISIC</a:t>
            </a:r>
            <a:r>
              <a:rPr lang="en" sz="1100">
                <a:solidFill>
                  <a:schemeClr val="dk1"/>
                </a:solidFill>
              </a:rPr>
              <a:t> dermoscopic datasets.</a:t>
            </a:r>
            <a:endParaRPr sz="1100">
              <a:solidFill>
                <a:schemeClr val="dk1"/>
              </a:solidFill>
            </a:endParaRPr>
          </a:p>
          <a:p>
            <a:pPr indent="-298450" lvl="1" marL="914400" rtl="0" algn="just">
              <a:lnSpc>
                <a:spcPct val="115000"/>
              </a:lnSpc>
              <a:spcBef>
                <a:spcPts val="0"/>
              </a:spcBef>
              <a:spcAft>
                <a:spcPts val="0"/>
              </a:spcAft>
              <a:buClr>
                <a:schemeClr val="dk1"/>
              </a:buClr>
              <a:buSzPts val="1100"/>
              <a:buChar char="○"/>
            </a:pPr>
            <a:r>
              <a:rPr lang="en" sz="1100">
                <a:solidFill>
                  <a:schemeClr val="dk1"/>
                </a:solidFill>
              </a:rPr>
              <a:t>Implemented extensive </a:t>
            </a:r>
            <a:r>
              <a:rPr b="1" lang="en" sz="1100">
                <a:solidFill>
                  <a:schemeClr val="dk1"/>
                </a:solidFill>
              </a:rPr>
              <a:t>Albumentations</a:t>
            </a:r>
            <a:r>
              <a:rPr lang="en" sz="1100">
                <a:solidFill>
                  <a:schemeClr val="dk1"/>
                </a:solidFill>
              </a:rPr>
              <a:t>-based data augmentation (crop, flip, brightness, CLAHE, rotation, etc.).</a:t>
            </a:r>
            <a:endParaRPr sz="1100">
              <a:solidFill>
                <a:schemeClr val="dk1"/>
              </a:solidFill>
            </a:endParaRPr>
          </a:p>
          <a:p>
            <a:pPr indent="-298450" lvl="0" marL="457200" rtl="0" algn="just">
              <a:lnSpc>
                <a:spcPct val="115000"/>
              </a:lnSpc>
              <a:spcBef>
                <a:spcPts val="0"/>
              </a:spcBef>
              <a:spcAft>
                <a:spcPts val="0"/>
              </a:spcAft>
              <a:buClr>
                <a:schemeClr val="dk1"/>
              </a:buClr>
              <a:buSzPts val="1100"/>
              <a:buChar char="●"/>
            </a:pPr>
            <a:r>
              <a:rPr b="1" lang="en" sz="1100">
                <a:solidFill>
                  <a:schemeClr val="dk1"/>
                </a:solidFill>
              </a:rPr>
              <a:t>Baseline Model Implementation:</a:t>
            </a:r>
            <a:endParaRPr b="1" sz="1100">
              <a:solidFill>
                <a:schemeClr val="dk1"/>
              </a:solidFill>
            </a:endParaRPr>
          </a:p>
          <a:p>
            <a:pPr indent="-298450" lvl="1" marL="914400" rtl="0" algn="just">
              <a:lnSpc>
                <a:spcPct val="115000"/>
              </a:lnSpc>
              <a:spcBef>
                <a:spcPts val="0"/>
              </a:spcBef>
              <a:spcAft>
                <a:spcPts val="0"/>
              </a:spcAft>
              <a:buClr>
                <a:schemeClr val="dk1"/>
              </a:buClr>
              <a:buSzPts val="1100"/>
              <a:buChar char="○"/>
            </a:pPr>
            <a:r>
              <a:rPr lang="en" sz="1100">
                <a:solidFill>
                  <a:schemeClr val="dk1"/>
                </a:solidFill>
              </a:rPr>
              <a:t>Reproduced </a:t>
            </a:r>
            <a:r>
              <a:rPr b="1" lang="en" sz="1100">
                <a:solidFill>
                  <a:schemeClr val="dk1"/>
                </a:solidFill>
              </a:rPr>
              <a:t>ResNet50</a:t>
            </a:r>
            <a:r>
              <a:rPr lang="en" sz="1100">
                <a:solidFill>
                  <a:schemeClr val="dk1"/>
                </a:solidFill>
              </a:rPr>
              <a:t> and </a:t>
            </a:r>
            <a:r>
              <a:rPr b="1" lang="en" sz="1100">
                <a:solidFill>
                  <a:schemeClr val="dk1"/>
                </a:solidFill>
              </a:rPr>
              <a:t>VGG19</a:t>
            </a:r>
            <a:r>
              <a:rPr lang="en" sz="1100">
                <a:solidFill>
                  <a:schemeClr val="dk1"/>
                </a:solidFill>
              </a:rPr>
              <a:t> results from the reference 2025 paper (</a:t>
            </a:r>
            <a:r>
              <a:rPr i="1" lang="en" sz="1100">
                <a:solidFill>
                  <a:schemeClr val="dk1"/>
                </a:solidFill>
              </a:rPr>
              <a:t>Exploring Pre-Trained Models for Skin Cancer Classification</a:t>
            </a:r>
            <a:r>
              <a:rPr lang="en" sz="1100">
                <a:solidFill>
                  <a:schemeClr val="dk1"/>
                </a:solidFill>
              </a:rPr>
              <a:t>).</a:t>
            </a:r>
            <a:endParaRPr sz="1100">
              <a:solidFill>
                <a:schemeClr val="dk1"/>
              </a:solidFill>
            </a:endParaRPr>
          </a:p>
          <a:p>
            <a:pPr indent="-298450" lvl="1" marL="914400" rtl="0" algn="just">
              <a:lnSpc>
                <a:spcPct val="115000"/>
              </a:lnSpc>
              <a:spcBef>
                <a:spcPts val="0"/>
              </a:spcBef>
              <a:spcAft>
                <a:spcPts val="0"/>
              </a:spcAft>
              <a:buClr>
                <a:schemeClr val="dk1"/>
              </a:buClr>
              <a:buSzPts val="1100"/>
              <a:buChar char="○"/>
            </a:pPr>
            <a:r>
              <a:rPr lang="en" sz="1100">
                <a:solidFill>
                  <a:schemeClr val="dk1"/>
                </a:solidFill>
              </a:rPr>
              <a:t>Verified accuracy and AUC values consistent with the paper.</a:t>
            </a:r>
            <a:endParaRPr sz="1100">
              <a:solidFill>
                <a:schemeClr val="dk1"/>
              </a:solidFill>
            </a:endParaRPr>
          </a:p>
          <a:p>
            <a:pPr indent="-298450" lvl="0" marL="457200" rtl="0" algn="just">
              <a:lnSpc>
                <a:spcPct val="115000"/>
              </a:lnSpc>
              <a:spcBef>
                <a:spcPts val="0"/>
              </a:spcBef>
              <a:spcAft>
                <a:spcPts val="0"/>
              </a:spcAft>
              <a:buClr>
                <a:schemeClr val="dk1"/>
              </a:buClr>
              <a:buSzPts val="1100"/>
              <a:buChar char="●"/>
            </a:pPr>
            <a:r>
              <a:rPr b="1" lang="en" sz="1100">
                <a:solidFill>
                  <a:schemeClr val="dk1"/>
                </a:solidFill>
              </a:rPr>
              <a:t>Proposed Hybrid Model:</a:t>
            </a:r>
            <a:endParaRPr b="1" sz="1100">
              <a:solidFill>
                <a:schemeClr val="dk1"/>
              </a:solidFill>
            </a:endParaRPr>
          </a:p>
          <a:p>
            <a:pPr indent="-298450" lvl="1" marL="914400" rtl="0" algn="just">
              <a:lnSpc>
                <a:spcPct val="115000"/>
              </a:lnSpc>
              <a:spcBef>
                <a:spcPts val="0"/>
              </a:spcBef>
              <a:spcAft>
                <a:spcPts val="0"/>
              </a:spcAft>
              <a:buClr>
                <a:schemeClr val="dk1"/>
              </a:buClr>
              <a:buSzPts val="1100"/>
              <a:buChar char="○"/>
            </a:pPr>
            <a:r>
              <a:rPr lang="en" sz="1100">
                <a:solidFill>
                  <a:schemeClr val="dk1"/>
                </a:solidFill>
              </a:rPr>
              <a:t>Developed </a:t>
            </a:r>
            <a:r>
              <a:rPr b="1" lang="en" sz="1100">
                <a:solidFill>
                  <a:schemeClr val="dk1"/>
                </a:solidFill>
              </a:rPr>
              <a:t>CNN + SE Attention + XGBoost</a:t>
            </a:r>
            <a:r>
              <a:rPr lang="en" sz="1100">
                <a:solidFill>
                  <a:schemeClr val="dk1"/>
                </a:solidFill>
              </a:rPr>
              <a:t> pipeline with </a:t>
            </a:r>
            <a:r>
              <a:rPr b="1" lang="en" sz="1100">
                <a:solidFill>
                  <a:schemeClr val="dk1"/>
                </a:solidFill>
              </a:rPr>
              <a:t>ResNet32</a:t>
            </a:r>
            <a:r>
              <a:rPr lang="en" sz="1100">
                <a:solidFill>
                  <a:schemeClr val="dk1"/>
                </a:solidFill>
              </a:rPr>
              <a:t> backbone.</a:t>
            </a:r>
            <a:endParaRPr sz="1100">
              <a:solidFill>
                <a:schemeClr val="dk1"/>
              </a:solidFill>
            </a:endParaRPr>
          </a:p>
          <a:p>
            <a:pPr indent="-298450" lvl="1" marL="914400" rtl="0" algn="just">
              <a:lnSpc>
                <a:spcPct val="115000"/>
              </a:lnSpc>
              <a:spcBef>
                <a:spcPts val="0"/>
              </a:spcBef>
              <a:spcAft>
                <a:spcPts val="0"/>
              </a:spcAft>
              <a:buClr>
                <a:schemeClr val="dk1"/>
              </a:buClr>
              <a:buSzPts val="1100"/>
              <a:buChar char="○"/>
            </a:pPr>
            <a:r>
              <a:rPr lang="en" sz="1100">
                <a:solidFill>
                  <a:schemeClr val="dk1"/>
                </a:solidFill>
              </a:rPr>
              <a:t>Achieved competitive performance between ResNet50 and VGG19 while being lighter.</a:t>
            </a:r>
            <a:endParaRPr sz="1100">
              <a:solidFill>
                <a:schemeClr val="dk1"/>
              </a:solidFill>
            </a:endParaRPr>
          </a:p>
          <a:p>
            <a:pPr indent="-298450" lvl="0" marL="457200" rtl="0" algn="just">
              <a:lnSpc>
                <a:spcPct val="115000"/>
              </a:lnSpc>
              <a:spcBef>
                <a:spcPts val="0"/>
              </a:spcBef>
              <a:spcAft>
                <a:spcPts val="0"/>
              </a:spcAft>
              <a:buClr>
                <a:schemeClr val="dk1"/>
              </a:buClr>
              <a:buSzPts val="1100"/>
              <a:buChar char="●"/>
            </a:pPr>
            <a:r>
              <a:rPr b="1" lang="en" sz="1100">
                <a:solidFill>
                  <a:schemeClr val="dk1"/>
                </a:solidFill>
              </a:rPr>
              <a:t>Improved Model:</a:t>
            </a:r>
            <a:endParaRPr b="1" sz="1100">
              <a:solidFill>
                <a:schemeClr val="dk1"/>
              </a:solidFill>
            </a:endParaRPr>
          </a:p>
          <a:p>
            <a:pPr indent="-298450" lvl="1" marL="914400" rtl="0" algn="just">
              <a:lnSpc>
                <a:spcPct val="115000"/>
              </a:lnSpc>
              <a:spcBef>
                <a:spcPts val="0"/>
              </a:spcBef>
              <a:spcAft>
                <a:spcPts val="0"/>
              </a:spcAft>
              <a:buClr>
                <a:schemeClr val="dk1"/>
              </a:buClr>
              <a:buSzPts val="1100"/>
              <a:buChar char="○"/>
            </a:pPr>
            <a:r>
              <a:rPr lang="en" sz="1100">
                <a:solidFill>
                  <a:schemeClr val="dk1"/>
                </a:solidFill>
              </a:rPr>
              <a:t>Replaced ResNet32 with </a:t>
            </a:r>
            <a:r>
              <a:rPr b="1" lang="en" sz="1100">
                <a:solidFill>
                  <a:schemeClr val="dk1"/>
                </a:solidFill>
              </a:rPr>
              <a:t>EfficientNet-B3</a:t>
            </a:r>
            <a:r>
              <a:rPr lang="en" sz="1100">
                <a:solidFill>
                  <a:schemeClr val="dk1"/>
                </a:solidFill>
              </a:rPr>
              <a:t> for higher performance and efficiency.</a:t>
            </a:r>
            <a:endParaRPr sz="1100">
              <a:solidFill>
                <a:schemeClr val="dk1"/>
              </a:solidFill>
            </a:endParaRPr>
          </a:p>
          <a:p>
            <a:pPr indent="-298450" lvl="1" marL="914400" rtl="0" algn="just">
              <a:lnSpc>
                <a:spcPct val="115000"/>
              </a:lnSpc>
              <a:spcBef>
                <a:spcPts val="0"/>
              </a:spcBef>
              <a:spcAft>
                <a:spcPts val="0"/>
              </a:spcAft>
              <a:buClr>
                <a:schemeClr val="dk1"/>
              </a:buClr>
              <a:buSzPts val="1100"/>
              <a:buChar char="○"/>
            </a:pPr>
            <a:r>
              <a:rPr lang="en" sz="1100">
                <a:solidFill>
                  <a:schemeClr val="dk1"/>
                </a:solidFill>
              </a:rPr>
              <a:t>Current results: </a:t>
            </a:r>
            <a:r>
              <a:rPr b="1" lang="en" sz="1100">
                <a:solidFill>
                  <a:schemeClr val="dk1"/>
                </a:solidFill>
              </a:rPr>
              <a:t>Accuracy = 0.909</a:t>
            </a:r>
            <a:r>
              <a:rPr lang="en" sz="1100">
                <a:solidFill>
                  <a:schemeClr val="dk1"/>
                </a:solidFill>
              </a:rPr>
              <a:t>, </a:t>
            </a:r>
            <a:r>
              <a:rPr b="1" lang="en" sz="1100">
                <a:solidFill>
                  <a:schemeClr val="dk1"/>
                </a:solidFill>
              </a:rPr>
              <a:t>AUC = 0.968</a:t>
            </a:r>
            <a:r>
              <a:rPr lang="en" sz="1100">
                <a:solidFill>
                  <a:schemeClr val="dk1"/>
                </a:solidFill>
              </a:rPr>
              <a:t>, </a:t>
            </a:r>
            <a:r>
              <a:rPr b="1" lang="en" sz="1100">
                <a:solidFill>
                  <a:schemeClr val="dk1"/>
                </a:solidFill>
              </a:rPr>
              <a:t>Precision = 0.91</a:t>
            </a:r>
            <a:r>
              <a:rPr lang="en" sz="1100">
                <a:solidFill>
                  <a:schemeClr val="dk1"/>
                </a:solidFill>
              </a:rPr>
              <a:t>, </a:t>
            </a:r>
            <a:r>
              <a:rPr b="1" lang="en" sz="1100">
                <a:solidFill>
                  <a:schemeClr val="dk1"/>
                </a:solidFill>
              </a:rPr>
              <a:t>F1 = 0.89</a:t>
            </a:r>
            <a:endParaRPr b="1" sz="11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9e8ef4afed_0_99"/>
          <p:cNvSpPr txBox="1"/>
          <p:nvPr>
            <p:ph type="title"/>
          </p:nvPr>
        </p:nvSpPr>
        <p:spPr>
          <a:xfrm>
            <a:off x="311700" y="4247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STATUS</a:t>
            </a:r>
            <a:endParaRPr b="1"/>
          </a:p>
        </p:txBody>
      </p:sp>
      <p:sp>
        <p:nvSpPr>
          <p:cNvPr id="165" name="Google Shape;165;g39e8ef4afed_0_99"/>
          <p:cNvSpPr txBox="1"/>
          <p:nvPr/>
        </p:nvSpPr>
        <p:spPr>
          <a:xfrm>
            <a:off x="1031400" y="1131750"/>
            <a:ext cx="7081200" cy="288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1"/>
                </a:solidFill>
              </a:rPr>
              <a:t>Ongoing / Upcoming Work</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Model Optimization:</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Fine-tuning learning rates, batch sizes, and embedding dimensions.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Exploring early-stopping.</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Explainability Module:</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Generating and analyzing other</a:t>
            </a:r>
            <a:r>
              <a:rPr b="1" lang="en" sz="1100">
                <a:solidFill>
                  <a:schemeClr val="dk1"/>
                </a:solidFill>
              </a:rPr>
              <a:t> </a:t>
            </a:r>
            <a:r>
              <a:rPr lang="en" sz="1100">
                <a:solidFill>
                  <a:schemeClr val="dk1"/>
                </a:solidFill>
              </a:rPr>
              <a:t>visualizations for clinical interpretation.</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Deployment Preparation:</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Packaging trained model for local testing and potential cloud deployment.</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Documentation &amp; Paper Draft:</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Preparing </a:t>
            </a:r>
            <a:r>
              <a:rPr b="1" lang="en" sz="1100">
                <a:solidFill>
                  <a:schemeClr val="dk1"/>
                </a:solidFill>
              </a:rPr>
              <a:t>Report</a:t>
            </a:r>
            <a:r>
              <a:rPr lang="en" sz="1100">
                <a:solidFill>
                  <a:schemeClr val="dk1"/>
                </a:solidFill>
              </a:rPr>
              <a:t>, final documentation, and research paper draft for submission.</a:t>
            </a:r>
            <a:endParaRPr b="1" sz="11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2"/>
          <p:cNvSpPr txBox="1"/>
          <p:nvPr>
            <p:ph type="title"/>
          </p:nvPr>
        </p:nvSpPr>
        <p:spPr>
          <a:xfrm>
            <a:off x="311700" y="22854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
              <a:t>THANK YOU</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