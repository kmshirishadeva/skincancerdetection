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h5SPZkQAOJwjg98t5ov0smAnU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1157100" y="701775"/>
            <a:ext cx="6829800" cy="66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b="1" lang="en" sz="2600"/>
              <a:t>Attention-Driven Deep Feature Boosting for Skin Cancer Classification </a:t>
            </a:r>
            <a:endParaRPr b="1" sz="2600"/>
          </a:p>
        </p:txBody>
      </p:sp>
      <p:sp>
        <p:nvSpPr>
          <p:cNvPr id="55" name="Google Shape;55;p1"/>
          <p:cNvSpPr txBox="1"/>
          <p:nvPr/>
        </p:nvSpPr>
        <p:spPr>
          <a:xfrm>
            <a:off x="5875475" y="2841925"/>
            <a:ext cx="30000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BATCH - 11</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22071A6693 – K.M. Shirisha Deva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22071A66B6 – P. Himesh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22071A66C2 – S. Lasya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22071A66C5 – V. Srivardhan</a:t>
            </a:r>
            <a:endParaRPr b="0" i="0" sz="1400" u="none" cap="none" strike="noStrike">
              <a:solidFill>
                <a:srgbClr val="000000"/>
              </a:solidFill>
              <a:latin typeface="Arial"/>
              <a:ea typeface="Arial"/>
              <a:cs typeface="Arial"/>
              <a:sym typeface="Arial"/>
            </a:endParaRPr>
          </a:p>
        </p:txBody>
      </p:sp>
      <p:sp>
        <p:nvSpPr>
          <p:cNvPr id="56" name="Google Shape;56;p1"/>
          <p:cNvSpPr txBox="1"/>
          <p:nvPr/>
        </p:nvSpPr>
        <p:spPr>
          <a:xfrm>
            <a:off x="1006025" y="3700275"/>
            <a:ext cx="23898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Dr. K Archana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Assistant Professor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Dept of CSE AIML &amp; IOT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VNR VJIET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ABSTRACT</a:t>
            </a:r>
            <a:endParaRPr b="1"/>
          </a:p>
        </p:txBody>
      </p:sp>
      <p:sp>
        <p:nvSpPr>
          <p:cNvPr id="62" name="Google Shape;62;p2"/>
          <p:cNvSpPr txBox="1"/>
          <p:nvPr>
            <p:ph idx="1" type="body"/>
          </p:nvPr>
        </p:nvSpPr>
        <p:spPr>
          <a:xfrm>
            <a:off x="311700" y="113107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1400">
                <a:solidFill>
                  <a:schemeClr val="dk1"/>
                </a:solidFill>
              </a:rPr>
              <a:t>Skin cancer remains a major global health challenge, where early detection significantly improves survival rates but manual diagnosis is subjective and error-prone.</a:t>
            </a:r>
            <a:br>
              <a:rPr lang="en" sz="1400">
                <a:solidFill>
                  <a:schemeClr val="dk1"/>
                </a:solidFill>
              </a:rPr>
            </a:br>
            <a:r>
              <a:rPr lang="en" sz="1400">
                <a:solidFill>
                  <a:schemeClr val="dk1"/>
                </a:solidFill>
              </a:rPr>
              <a:t>Traditional machine learning approaches, though accurate in controlled settings, rely on handcrafted features and fail to generalize across diverse dermoscopic datasets.</a:t>
            </a:r>
            <a:br>
              <a:rPr lang="en" sz="1400">
                <a:solidFill>
                  <a:schemeClr val="dk1"/>
                </a:solidFill>
              </a:rPr>
            </a:br>
            <a:r>
              <a:rPr lang="en" sz="1400">
                <a:solidFill>
                  <a:schemeClr val="dk1"/>
                </a:solidFill>
              </a:rPr>
              <a:t>Recent advances in deep learning — particularly </a:t>
            </a:r>
            <a:r>
              <a:rPr b="1" lang="en" sz="1400">
                <a:solidFill>
                  <a:schemeClr val="dk1"/>
                </a:solidFill>
              </a:rPr>
              <a:t>CNNs enhanced with attention mechanisms</a:t>
            </a:r>
            <a:r>
              <a:rPr lang="en" sz="1400">
                <a:solidFill>
                  <a:schemeClr val="dk1"/>
                </a:solidFill>
              </a:rPr>
              <a:t> — have achieved state-of-the-art accuracy by focusing on critical lesion regions and multi-scale features.</a:t>
            </a:r>
            <a:br>
              <a:rPr lang="en" sz="1400">
                <a:solidFill>
                  <a:schemeClr val="dk1"/>
                </a:solidFill>
              </a:rPr>
            </a:br>
            <a:r>
              <a:rPr b="1" lang="en" sz="1400">
                <a:solidFill>
                  <a:schemeClr val="dk1"/>
                </a:solidFill>
              </a:rPr>
              <a:t>Lightweight attention-driven models</a:t>
            </a:r>
            <a:r>
              <a:rPr lang="en" sz="1400">
                <a:solidFill>
                  <a:schemeClr val="dk1"/>
                </a:solidFill>
              </a:rPr>
              <a:t> (e.g., Attention-Driven CNNs, Eff2Net) enable efficient deployment on resource-limited devices while retaining high diagnostic accuracy.</a:t>
            </a:r>
            <a:br>
              <a:rPr lang="en" sz="1400">
                <a:solidFill>
                  <a:schemeClr val="dk1"/>
                </a:solidFill>
              </a:rPr>
            </a:br>
            <a:r>
              <a:rPr lang="en" sz="1400">
                <a:solidFill>
                  <a:schemeClr val="dk1"/>
                </a:solidFill>
              </a:rPr>
              <a:t>However, a gap remains in integrating </a:t>
            </a:r>
            <a:r>
              <a:rPr b="1" lang="en" sz="1400">
                <a:solidFill>
                  <a:schemeClr val="dk1"/>
                </a:solidFill>
              </a:rPr>
              <a:t>attention-based CNNs with robust classifiers (like Gradient Boosting)</a:t>
            </a:r>
            <a:r>
              <a:rPr lang="en" sz="1400">
                <a:solidFill>
                  <a:schemeClr val="dk1"/>
                </a:solidFill>
              </a:rPr>
              <a:t> to balance efficiency, interpretability, and diagnostic performance — forming the basis of our proposed approach.</a:t>
            </a:r>
            <a:endParaRPr sz="1400">
              <a:solidFill>
                <a:schemeClr val="dk1"/>
              </a:solidFill>
            </a:endParaRPr>
          </a:p>
          <a:p>
            <a:pPr indent="0" lvl="0" marL="0" rtl="0" algn="just">
              <a:lnSpc>
                <a:spcPct val="115000"/>
              </a:lnSpc>
              <a:spcBef>
                <a:spcPts val="0"/>
              </a:spcBef>
              <a:spcAft>
                <a:spcPts val="0"/>
              </a:spcAft>
              <a:buSzPts val="1800"/>
              <a:buNone/>
            </a:pPr>
            <a:r>
              <a:t/>
            </a:r>
            <a:endParaRPr sz="1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INTRODUCTION</a:t>
            </a:r>
            <a:endParaRPr b="1"/>
          </a:p>
        </p:txBody>
      </p:sp>
      <p:sp>
        <p:nvSpPr>
          <p:cNvPr id="68" name="Google Shape;68;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SzPts val="1800"/>
              <a:buNone/>
            </a:pPr>
            <a:r>
              <a:rPr lang="en">
                <a:solidFill>
                  <a:schemeClr val="dk1"/>
                </a:solidFill>
              </a:rPr>
              <a:t>Skin cancer is one of the most common cancers worldwide, and early detection is crucial for improving survival rates. Manual diagnosis using dermoscopy is time-consuming, subjective, and prone to inter-observer variability, which creates a strong need for automated, reliable diagnostic systems. While traditional machine learning approaches provided some success, they were limited by reliance on handcrafted features and lack of scalability. Advances in deep learning, particularly convolutional neural networks (CNNs), have significantly improved performance through automated feature extraction. More recently, attention mechanisms and hybrid architectures have shown further improvements in accuracy, efficiency, and interpretability. However, challenges remain in developing models that are both robust and lightweight, while maintaining clinical reliability.</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
          <p:cNvSpPr txBox="1"/>
          <p:nvPr>
            <p:ph type="title"/>
          </p:nvPr>
        </p:nvSpPr>
        <p:spPr>
          <a:xfrm>
            <a:off x="311700" y="1400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REVIEW PAPER FINDINGS</a:t>
            </a:r>
            <a:endParaRPr b="1"/>
          </a:p>
        </p:txBody>
      </p:sp>
      <p:pic>
        <p:nvPicPr>
          <p:cNvPr id="74" name="Google Shape;74;p4"/>
          <p:cNvPicPr preferRelativeResize="0"/>
          <p:nvPr/>
        </p:nvPicPr>
        <p:blipFill rotWithShape="1">
          <a:blip r:embed="rId3">
            <a:alphaModFix/>
          </a:blip>
          <a:srcRect b="0" l="0" r="0" t="0"/>
          <a:stretch/>
        </p:blipFill>
        <p:spPr>
          <a:xfrm>
            <a:off x="152400" y="1094113"/>
            <a:ext cx="8839197" cy="29552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5"/>
          <p:cNvPicPr preferRelativeResize="0"/>
          <p:nvPr/>
        </p:nvPicPr>
        <p:blipFill rotWithShape="1">
          <a:blip r:embed="rId3">
            <a:alphaModFix/>
          </a:blip>
          <a:srcRect b="0" l="0" r="0" t="0"/>
          <a:stretch/>
        </p:blipFill>
        <p:spPr>
          <a:xfrm>
            <a:off x="389388" y="1127026"/>
            <a:ext cx="8365222" cy="2889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6"/>
          <p:cNvPicPr preferRelativeResize="0"/>
          <p:nvPr/>
        </p:nvPicPr>
        <p:blipFill rotWithShape="1">
          <a:blip r:embed="rId3">
            <a:alphaModFix/>
          </a:blip>
          <a:srcRect b="0" l="0" r="0" t="0"/>
          <a:stretch/>
        </p:blipFill>
        <p:spPr>
          <a:xfrm>
            <a:off x="152400" y="959050"/>
            <a:ext cx="8839200" cy="32254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7"/>
          <p:cNvPicPr preferRelativeResize="0"/>
          <p:nvPr/>
        </p:nvPicPr>
        <p:blipFill rotWithShape="1">
          <a:blip r:embed="rId3">
            <a:alphaModFix/>
          </a:blip>
          <a:srcRect b="0" l="0" r="0" t="0"/>
          <a:stretch/>
        </p:blipFill>
        <p:spPr>
          <a:xfrm>
            <a:off x="152400" y="862050"/>
            <a:ext cx="8839200" cy="34193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LITERATURE REVIEW CONCLUSION</a:t>
            </a:r>
            <a:endParaRPr b="1"/>
          </a:p>
        </p:txBody>
      </p:sp>
      <p:sp>
        <p:nvSpPr>
          <p:cNvPr id="95" name="Google Shape;9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018"/>
              <a:buFont typeface="Arial"/>
              <a:buNone/>
            </a:pPr>
            <a:r>
              <a:rPr b="1" lang="en" sz="1117">
                <a:solidFill>
                  <a:schemeClr val="dk1"/>
                </a:solidFill>
              </a:rPr>
              <a:t>Perfor</a:t>
            </a:r>
            <a:r>
              <a:rPr b="1" lang="en" sz="1117">
                <a:solidFill>
                  <a:schemeClr val="dk1"/>
                </a:solidFill>
              </a:rPr>
              <a:t>mance Evolution</a:t>
            </a:r>
            <a:endParaRPr b="1" sz="1117">
              <a:solidFill>
                <a:schemeClr val="dk1"/>
              </a:solidFill>
            </a:endParaRPr>
          </a:p>
          <a:p>
            <a:pPr indent="-299561" lvl="0" marL="457200" rtl="0" algn="l">
              <a:lnSpc>
                <a:spcPct val="95000"/>
              </a:lnSpc>
              <a:spcBef>
                <a:spcPts val="1200"/>
              </a:spcBef>
              <a:spcAft>
                <a:spcPts val="0"/>
              </a:spcAft>
              <a:buClr>
                <a:schemeClr val="dk1"/>
              </a:buClr>
              <a:buSzPts val="1118"/>
              <a:buChar char="●"/>
            </a:pPr>
            <a:r>
              <a:rPr lang="en" sz="1117">
                <a:solidFill>
                  <a:schemeClr val="dk1"/>
                </a:solidFill>
              </a:rPr>
              <a:t>Accuracy improved from ~85% in early CNN models (2020) to </a:t>
            </a:r>
            <a:r>
              <a:rPr b="1" lang="en" sz="1117">
                <a:solidFill>
                  <a:schemeClr val="dk1"/>
                </a:solidFill>
              </a:rPr>
              <a:t>&gt;93%</a:t>
            </a:r>
            <a:r>
              <a:rPr lang="en" sz="1117">
                <a:solidFill>
                  <a:schemeClr val="dk1"/>
                </a:solidFill>
              </a:rPr>
              <a:t> in recent attention-based and hybrid frameworks.</a:t>
            </a:r>
            <a:br>
              <a:rPr lang="en" sz="1117">
                <a:solidFill>
                  <a:schemeClr val="dk1"/>
                </a:solidFill>
              </a:rPr>
            </a:br>
            <a:endParaRPr sz="1117">
              <a:solidFill>
                <a:schemeClr val="dk1"/>
              </a:solidFill>
            </a:endParaRPr>
          </a:p>
          <a:p>
            <a:pPr indent="-299561" lvl="0" marL="457200" rtl="0" algn="l">
              <a:lnSpc>
                <a:spcPct val="95000"/>
              </a:lnSpc>
              <a:spcBef>
                <a:spcPts val="0"/>
              </a:spcBef>
              <a:spcAft>
                <a:spcPts val="0"/>
              </a:spcAft>
              <a:buClr>
                <a:schemeClr val="dk1"/>
              </a:buClr>
              <a:buSzPts val="1118"/>
              <a:buChar char="●"/>
            </a:pPr>
            <a:r>
              <a:rPr lang="en" sz="1117">
                <a:solidFill>
                  <a:schemeClr val="dk1"/>
                </a:solidFill>
              </a:rPr>
              <a:t>Attention modules and fusion strategies consistently outperformed plain CNNs.</a:t>
            </a:r>
            <a:endParaRPr sz="1117">
              <a:solidFill>
                <a:schemeClr val="dk1"/>
              </a:solidFill>
            </a:endParaRPr>
          </a:p>
          <a:p>
            <a:pPr indent="0" lvl="0" marL="0" rtl="0" algn="l">
              <a:lnSpc>
                <a:spcPct val="95000"/>
              </a:lnSpc>
              <a:spcBef>
                <a:spcPts val="1200"/>
              </a:spcBef>
              <a:spcAft>
                <a:spcPts val="0"/>
              </a:spcAft>
              <a:buClr>
                <a:schemeClr val="dk1"/>
              </a:buClr>
              <a:buSzPts val="1018"/>
              <a:buFont typeface="Arial"/>
              <a:buNone/>
            </a:pPr>
            <a:r>
              <a:rPr b="1" lang="en" sz="1117">
                <a:solidFill>
                  <a:schemeClr val="dk1"/>
                </a:solidFill>
              </a:rPr>
              <a:t>Architecture Trends</a:t>
            </a:r>
            <a:endParaRPr b="1" sz="1117">
              <a:solidFill>
                <a:schemeClr val="dk1"/>
              </a:solidFill>
            </a:endParaRPr>
          </a:p>
          <a:p>
            <a:pPr indent="-299561" lvl="0" marL="457200" rtl="0" algn="l">
              <a:lnSpc>
                <a:spcPct val="95000"/>
              </a:lnSpc>
              <a:spcBef>
                <a:spcPts val="1200"/>
              </a:spcBef>
              <a:spcAft>
                <a:spcPts val="0"/>
              </a:spcAft>
              <a:buClr>
                <a:schemeClr val="dk1"/>
              </a:buClr>
              <a:buSzPts val="1118"/>
              <a:buChar char="●"/>
            </a:pPr>
            <a:r>
              <a:rPr b="1" lang="en" sz="1117">
                <a:solidFill>
                  <a:schemeClr val="dk1"/>
                </a:solidFill>
              </a:rPr>
              <a:t>Hybrid CNN-Attention models</a:t>
            </a:r>
            <a:r>
              <a:rPr lang="en" sz="1117">
                <a:solidFill>
                  <a:schemeClr val="dk1"/>
                </a:solidFill>
              </a:rPr>
              <a:t> and </a:t>
            </a:r>
            <a:r>
              <a:rPr b="1" lang="en" sz="1117">
                <a:solidFill>
                  <a:schemeClr val="dk1"/>
                </a:solidFill>
              </a:rPr>
              <a:t>multi-scale fusion</a:t>
            </a:r>
            <a:r>
              <a:rPr lang="en" sz="1117">
                <a:solidFill>
                  <a:schemeClr val="dk1"/>
                </a:solidFill>
              </a:rPr>
              <a:t> approaches improved robustness and generalization.</a:t>
            </a:r>
            <a:br>
              <a:rPr lang="en" sz="1117">
                <a:solidFill>
                  <a:schemeClr val="dk1"/>
                </a:solidFill>
              </a:rPr>
            </a:br>
            <a:endParaRPr sz="1117">
              <a:solidFill>
                <a:schemeClr val="dk1"/>
              </a:solidFill>
            </a:endParaRPr>
          </a:p>
          <a:p>
            <a:pPr indent="-299561" lvl="0" marL="457200" rtl="0" algn="l">
              <a:lnSpc>
                <a:spcPct val="95000"/>
              </a:lnSpc>
              <a:spcBef>
                <a:spcPts val="0"/>
              </a:spcBef>
              <a:spcAft>
                <a:spcPts val="0"/>
              </a:spcAft>
              <a:buClr>
                <a:schemeClr val="dk1"/>
              </a:buClr>
              <a:buSzPts val="1118"/>
              <a:buChar char="●"/>
            </a:pPr>
            <a:r>
              <a:rPr b="1" lang="en" sz="1117">
                <a:solidFill>
                  <a:schemeClr val="dk1"/>
                </a:solidFill>
              </a:rPr>
              <a:t>Transformer-based methods</a:t>
            </a:r>
            <a:r>
              <a:rPr lang="en" sz="1117">
                <a:solidFill>
                  <a:schemeClr val="dk1"/>
                </a:solidFill>
              </a:rPr>
              <a:t> showed strong results for global context but required more data and computation.</a:t>
            </a:r>
            <a:endParaRPr sz="1117">
              <a:solidFill>
                <a:schemeClr val="dk1"/>
              </a:solidFill>
            </a:endParaRPr>
          </a:p>
          <a:p>
            <a:pPr indent="0" lvl="0" marL="0" rtl="0" algn="l">
              <a:lnSpc>
                <a:spcPct val="95000"/>
              </a:lnSpc>
              <a:spcBef>
                <a:spcPts val="1200"/>
              </a:spcBef>
              <a:spcAft>
                <a:spcPts val="0"/>
              </a:spcAft>
              <a:buClr>
                <a:schemeClr val="dk1"/>
              </a:buClr>
              <a:buSzPts val="1018"/>
              <a:buFont typeface="Arial"/>
              <a:buNone/>
            </a:pPr>
            <a:r>
              <a:rPr b="1" lang="en" sz="1117">
                <a:solidFill>
                  <a:schemeClr val="dk1"/>
                </a:solidFill>
              </a:rPr>
              <a:t>Explainability</a:t>
            </a:r>
            <a:endParaRPr b="1" sz="1117">
              <a:solidFill>
                <a:schemeClr val="dk1"/>
              </a:solidFill>
            </a:endParaRPr>
          </a:p>
          <a:p>
            <a:pPr indent="-299561" lvl="0" marL="457200" rtl="0" algn="l">
              <a:lnSpc>
                <a:spcPct val="95000"/>
              </a:lnSpc>
              <a:spcBef>
                <a:spcPts val="1200"/>
              </a:spcBef>
              <a:spcAft>
                <a:spcPts val="0"/>
              </a:spcAft>
              <a:buClr>
                <a:schemeClr val="dk1"/>
              </a:buClr>
              <a:buSzPts val="1118"/>
              <a:buChar char="●"/>
            </a:pPr>
            <a:r>
              <a:rPr lang="en" sz="1117">
                <a:solidFill>
                  <a:schemeClr val="dk1"/>
                </a:solidFill>
              </a:rPr>
              <a:t>Attention mechanisms and visualization tools (e.g., Grad-CAM) enhanced interpretability, making results more clinically relevant.</a:t>
            </a:r>
            <a:endParaRPr sz="1117">
              <a:solidFill>
                <a:schemeClr val="dk1"/>
              </a:solidFill>
            </a:endParaRPr>
          </a:p>
          <a:p>
            <a:pPr indent="0" lvl="0" marL="0" rtl="0" algn="l">
              <a:lnSpc>
                <a:spcPct val="95000"/>
              </a:lnSpc>
              <a:spcBef>
                <a:spcPts val="1200"/>
              </a:spcBef>
              <a:spcAft>
                <a:spcPts val="0"/>
              </a:spcAft>
              <a:buClr>
                <a:schemeClr val="dk1"/>
              </a:buClr>
              <a:buSzPts val="1018"/>
              <a:buFont typeface="Arial"/>
              <a:buNone/>
            </a:pPr>
            <a:r>
              <a:rPr b="1" lang="en" sz="1117">
                <a:solidFill>
                  <a:schemeClr val="dk1"/>
                </a:solidFill>
              </a:rPr>
              <a:t>Clinical Readiness</a:t>
            </a:r>
            <a:endParaRPr b="1" sz="1117">
              <a:solidFill>
                <a:schemeClr val="dk1"/>
              </a:solidFill>
            </a:endParaRPr>
          </a:p>
          <a:p>
            <a:pPr indent="-299561" lvl="0" marL="457200" rtl="0" algn="l">
              <a:lnSpc>
                <a:spcPct val="95000"/>
              </a:lnSpc>
              <a:spcBef>
                <a:spcPts val="1200"/>
              </a:spcBef>
              <a:spcAft>
                <a:spcPts val="0"/>
              </a:spcAft>
              <a:buClr>
                <a:schemeClr val="dk1"/>
              </a:buClr>
              <a:buSzPts val="1118"/>
              <a:buChar char="●"/>
            </a:pPr>
            <a:r>
              <a:rPr lang="en" sz="1117">
                <a:solidFill>
                  <a:schemeClr val="dk1"/>
                </a:solidFill>
              </a:rPr>
              <a:t>Several models now achieve </a:t>
            </a:r>
            <a:r>
              <a:rPr b="1" lang="en" sz="1117">
                <a:solidFill>
                  <a:schemeClr val="dk1"/>
                </a:solidFill>
              </a:rPr>
              <a:t>radiologist-level accuracy</a:t>
            </a:r>
            <a:r>
              <a:rPr lang="en" sz="1117">
                <a:solidFill>
                  <a:schemeClr val="dk1"/>
                </a:solidFill>
              </a:rPr>
              <a:t> in controlled settings.</a:t>
            </a:r>
            <a:br>
              <a:rPr lang="en" sz="1117">
                <a:solidFill>
                  <a:schemeClr val="dk1"/>
                </a:solidFill>
              </a:rPr>
            </a:br>
            <a:endParaRPr sz="1117">
              <a:solidFill>
                <a:schemeClr val="dk1"/>
              </a:solidFill>
            </a:endParaRPr>
          </a:p>
          <a:p>
            <a:pPr indent="-299561" lvl="0" marL="457200" rtl="0" algn="l">
              <a:lnSpc>
                <a:spcPct val="95000"/>
              </a:lnSpc>
              <a:spcBef>
                <a:spcPts val="0"/>
              </a:spcBef>
              <a:spcAft>
                <a:spcPts val="0"/>
              </a:spcAft>
              <a:buClr>
                <a:schemeClr val="dk1"/>
              </a:buClr>
              <a:buSzPts val="1118"/>
              <a:buChar char="●"/>
            </a:pPr>
            <a:r>
              <a:rPr lang="en" sz="1117">
                <a:solidFill>
                  <a:schemeClr val="dk1"/>
                </a:solidFill>
              </a:rPr>
              <a:t>Lightweight attention-driven CNNs show potential for </a:t>
            </a:r>
            <a:r>
              <a:rPr b="1" lang="en" sz="1117">
                <a:solidFill>
                  <a:schemeClr val="dk1"/>
                </a:solidFill>
              </a:rPr>
              <a:t>real-time and mobile deployment</a:t>
            </a:r>
            <a:r>
              <a:rPr lang="en" sz="1117">
                <a:solidFill>
                  <a:schemeClr val="dk1"/>
                </a:solidFill>
              </a:rPr>
              <a:t>.</a:t>
            </a:r>
            <a:endParaRPr sz="176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PROBLEM DEFINITION</a:t>
            </a:r>
            <a:endParaRPr b="1"/>
          </a:p>
        </p:txBody>
      </p:sp>
      <p:sp>
        <p:nvSpPr>
          <p:cNvPr id="101" name="Google Shape;10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Skin cancer diagnosis requires </a:t>
            </a:r>
            <a:r>
              <a:rPr b="1" lang="en" sz="1100">
                <a:solidFill>
                  <a:schemeClr val="dk1"/>
                </a:solidFill>
              </a:rPr>
              <a:t>early and accurate detection</a:t>
            </a:r>
            <a:r>
              <a:rPr lang="en" sz="1100">
                <a:solidFill>
                  <a:schemeClr val="dk1"/>
                </a:solidFill>
              </a:rPr>
              <a:t>, as it directly impacts patient outcomes.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Traditional methods</a:t>
            </a:r>
            <a:r>
              <a:rPr lang="en" sz="1100">
                <a:solidFill>
                  <a:schemeClr val="dk1"/>
                </a:solidFill>
              </a:rPr>
              <a:t> are manual, subjective, and depend on dermatologist expertise → causing inconsistencies and delays.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Conventional machine learning models</a:t>
            </a:r>
            <a:r>
              <a:rPr lang="en" sz="1100">
                <a:solidFill>
                  <a:schemeClr val="dk1"/>
                </a:solidFill>
              </a:rPr>
              <a:t> rely on handcrafted features and fail to generalize across diverse dermoscopic datasets.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Deep learning models (CNNs)</a:t>
            </a:r>
            <a:r>
              <a:rPr lang="en" sz="1100">
                <a:solidFill>
                  <a:schemeClr val="dk1"/>
                </a:solidFill>
              </a:rPr>
              <a:t> improve accuracy but face challenges in: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Handling </a:t>
            </a:r>
            <a:r>
              <a:rPr b="1" lang="en" sz="1100">
                <a:solidFill>
                  <a:schemeClr val="dk1"/>
                </a:solidFill>
              </a:rPr>
              <a:t>multi-class classification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Maintaining </a:t>
            </a:r>
            <a:r>
              <a:rPr b="1" lang="en" sz="1100">
                <a:solidFill>
                  <a:schemeClr val="dk1"/>
                </a:solidFill>
              </a:rPr>
              <a:t>computational efficiency</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Providing </a:t>
            </a:r>
            <a:r>
              <a:rPr b="1" lang="en" sz="1100">
                <a:solidFill>
                  <a:schemeClr val="dk1"/>
                </a:solidFill>
              </a:rPr>
              <a:t>interpretability</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Attention mechanisms</a:t>
            </a:r>
            <a:r>
              <a:rPr lang="en" sz="1100">
                <a:solidFill>
                  <a:schemeClr val="dk1"/>
                </a:solidFill>
              </a:rPr>
              <a:t> improve feature refinement, but most models are: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Computationally heavy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Dataset-specific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Lacking integration with robust classifiers</a:t>
            </a:r>
            <a:endParaRPr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There is a need for a </a:t>
            </a:r>
            <a:r>
              <a:rPr b="1" lang="en" sz="1100">
                <a:solidFill>
                  <a:schemeClr val="dk1"/>
                </a:solidFill>
              </a:rPr>
              <a:t>lightweight, attention-driven deep learning framework combined with robust classifiers</a:t>
            </a:r>
            <a:r>
              <a:rPr lang="en" sz="1100">
                <a:solidFill>
                  <a:schemeClr val="dk1"/>
                </a:solidFill>
              </a:rPr>
              <a:t> for accurate, efficient, and clinically reliable skin cancer classification.</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txBox="1"/>
          <p:nvPr>
            <p:ph type="title"/>
          </p:nvPr>
        </p:nvSpPr>
        <p:spPr>
          <a:xfrm>
            <a:off x="311700" y="1568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PROPOSED SYSTEM</a:t>
            </a:r>
            <a:endParaRPr b="1"/>
          </a:p>
        </p:txBody>
      </p:sp>
      <p:pic>
        <p:nvPicPr>
          <p:cNvPr id="107" name="Google Shape;107;p10"/>
          <p:cNvPicPr preferRelativeResize="0"/>
          <p:nvPr/>
        </p:nvPicPr>
        <p:blipFill rotWithShape="1">
          <a:blip r:embed="rId3">
            <a:alphaModFix/>
          </a:blip>
          <a:srcRect b="0" l="0" r="0" t="0"/>
          <a:stretch/>
        </p:blipFill>
        <p:spPr>
          <a:xfrm>
            <a:off x="2730875" y="729550"/>
            <a:ext cx="3682251" cy="4197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PLAN OF ACTION</a:t>
            </a:r>
            <a:endParaRPr b="1"/>
          </a:p>
        </p:txBody>
      </p:sp>
      <p:sp>
        <p:nvSpPr>
          <p:cNvPr id="113" name="Google Shape;113;p11"/>
          <p:cNvSpPr txBox="1"/>
          <p:nvPr>
            <p:ph idx="1" type="body"/>
          </p:nvPr>
        </p:nvSpPr>
        <p:spPr>
          <a:xfrm>
            <a:off x="180625" y="1267075"/>
            <a:ext cx="85206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Month 1–2: Literature Review &amp; Problem Definition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Collect and analyze 20+ papers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Finalize problem statement &amp; objectives</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Month 3–4: Dataset Collection &amp; Preprocessing</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Acquire ISIC / HAM10000 datasets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Perform cleaning, augmentation, normalization</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Month 5–6: Baseline Model Implementation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Implement CNN baseline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Evaluate on benchmark metrics</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Month 7–8: Attention Module Integration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Add soft/channel attention to CNN</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Analyze improvements in performance</a:t>
            </a:r>
            <a:endParaRPr sz="1200">
              <a:solidFill>
                <a:schemeClr val="dk1"/>
              </a:solidFill>
            </a:endParaRPr>
          </a:p>
          <a:p>
            <a:pPr indent="0" lvl="0" marL="0" rtl="0" algn="l">
              <a:lnSpc>
                <a:spcPct val="115000"/>
              </a:lnSpc>
              <a:spcBef>
                <a:spcPts val="1200"/>
              </a:spcBef>
              <a:spcAft>
                <a:spcPts val="1200"/>
              </a:spcAft>
              <a:buSzPts val="1800"/>
              <a:buNone/>
            </a:pPr>
            <a:r>
              <a:t/>
            </a:r>
            <a:endParaRPr sz="1200"/>
          </a:p>
        </p:txBody>
      </p:sp>
      <p:sp>
        <p:nvSpPr>
          <p:cNvPr id="114" name="Google Shape;114;p11"/>
          <p:cNvSpPr txBox="1"/>
          <p:nvPr/>
        </p:nvSpPr>
        <p:spPr>
          <a:xfrm>
            <a:off x="4325575" y="1205900"/>
            <a:ext cx="4738200" cy="32631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120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5. Month 9: Gradient Boosting Classifier Integration</a:t>
            </a:r>
            <a:endParaRPr b="1" i="0" sz="1200" u="none" cap="none" strike="noStrike">
              <a:solidFill>
                <a:schemeClr val="dk1"/>
              </a:solidFill>
              <a:latin typeface="Arial"/>
              <a:ea typeface="Arial"/>
              <a:cs typeface="Arial"/>
              <a:sym typeface="Arial"/>
            </a:endParaRPr>
          </a:p>
          <a:p>
            <a:pPr indent="-304800" lvl="1" marL="914400" marR="0" rtl="0" algn="l">
              <a:lnSpc>
                <a:spcPct val="115000"/>
              </a:lnSpc>
              <a:spcBef>
                <a:spcPts val="120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Replace softmax with boosting (XGBoost/LightGBM)</a:t>
            </a:r>
            <a:endParaRPr b="0"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Compare with CNN-only models</a:t>
            </a:r>
            <a:endParaRPr b="0" i="0" sz="12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6. Month 10: Evaluation &amp; Optimization</a:t>
            </a:r>
            <a:endParaRPr b="1" i="0" sz="1200" u="none" cap="none" strike="noStrike">
              <a:solidFill>
                <a:schemeClr val="dk1"/>
              </a:solidFill>
              <a:latin typeface="Arial"/>
              <a:ea typeface="Arial"/>
              <a:cs typeface="Arial"/>
              <a:sym typeface="Arial"/>
            </a:endParaRPr>
          </a:p>
          <a:p>
            <a:pPr indent="-304800" lvl="1" marL="914400" marR="0" rtl="0" algn="l">
              <a:lnSpc>
                <a:spcPct val="115000"/>
              </a:lnSpc>
              <a:spcBef>
                <a:spcPts val="120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Test across multiple datasets</a:t>
            </a:r>
            <a:endParaRPr b="0"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Hyperparameter tunin</a:t>
            </a:r>
            <a:endParaRPr b="0" i="0" sz="12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7. Month 11 &amp; 12:</a:t>
            </a:r>
            <a:endParaRPr b="1" i="0" sz="1200" u="none" cap="none" strike="noStrike">
              <a:solidFill>
                <a:schemeClr val="dk1"/>
              </a:solidFill>
              <a:latin typeface="Arial"/>
              <a:ea typeface="Arial"/>
              <a:cs typeface="Arial"/>
              <a:sym typeface="Arial"/>
            </a:endParaRPr>
          </a:p>
          <a:p>
            <a:pPr indent="-304800" lvl="1" marL="914400" marR="0" rtl="0" algn="l">
              <a:lnSpc>
                <a:spcPct val="115000"/>
              </a:lnSpc>
              <a:spcBef>
                <a:spcPts val="120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Apply Grad-CAM / XAI methods</a:t>
            </a:r>
            <a:endParaRPr b="0"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Validate results against clinical reasoning</a:t>
            </a:r>
            <a:endParaRPr b="1"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Prepare final report, PPT, and paper draft</a:t>
            </a:r>
            <a:endParaRPr b="0"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Submission and presentation</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2"/>
          <p:cNvSpPr txBox="1"/>
          <p:nvPr>
            <p:ph type="title"/>
          </p:nvPr>
        </p:nvSpPr>
        <p:spPr>
          <a:xfrm>
            <a:off x="311700" y="22854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